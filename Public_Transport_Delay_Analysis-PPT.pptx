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62CE54-63C7-575E-58B7-B12226A496E4}">
          <p14:sldIdLst>
            <p14:sldId id="256"/>
          </p14:sldIdLst>
        </p14:section>
        <p14:section name="Background" id="{4CBC6A60-8B4B-B04F-9E08-91EB51802353}">
          <p14:sldIdLst>
            <p14:sldId id="257"/>
            <p14:sldId id="258"/>
          </p14:sldIdLst>
        </p14:section>
        <p14:section name="Design and Method" id="{BEBD14A8-7956-BB33-5A94-2C31367B48BD}">
          <p14:sldIdLst>
            <p14:sldId id="259"/>
            <p14:sldId id="260"/>
          </p14:sldIdLst>
        </p14:section>
        <p14:section name="Processing and Storage" id="{6E9F5A54-441A-B440-4E25-BAF85F921E5E}">
          <p14:sldIdLst>
            <p14:sldId id="261"/>
            <p14:sldId id="262"/>
          </p14:sldIdLst>
        </p14:section>
        <p14:section name="Dashboard and Results" id="{D3096336-FC6E-4B7E-D925-57657DD7094A}">
          <p14:sldIdLst>
            <p14:sldId id="263"/>
            <p14:sldId id="264"/>
          </p14:sldIdLst>
        </p14:section>
        <p14:section name="Closing" id="{8D8B801F-B0CE-3AB6-7D40-E5FF89CE1D2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944CB-3596-4A0B-9E5B-D5656B982D28}" v="93" dt="2026-10-27T07:14:29.929"/>
    <p1510:client id="{52AFC33E-9C85-4798-90D2-3C04E0699B45}" v="1" dt="2026-10-28T18:20:42.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0D549D60-3C99-45E9-958F-A9CD8879F0AB}" type="datetimeFigureOut">
              <a:t>10/28/2026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EF7C38D5-0580-490B-B930-4FFAE3226660}" type="slidenum">
              <a:t>‹#›</a:t>
            </a:fld>
            <a:endParaRPr lang="en-US"/>
          </a:p>
        </p:txBody>
      </p:sp>
    </p:spTree>
    <p:extLst>
      <p:ext uri="{BB962C8B-B14F-4D97-AF65-F5344CB8AC3E}">
        <p14:creationId xmlns:p14="http://schemas.microsoft.com/office/powerpoint/2010/main" val="188983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called Public Transport Delay Analysis. I took a large railway dataset, about 1.5 million journey records, and used big data tools to find delay patterns in it. The final results are shown in a small dashboard.
One thing I want to say right at the start: the dataset is synthetic. It was made for learning, so it is not official Indian Railways data, and I will not claim the numbers are real railway statistics.
[Before presenting: fill in your name, roll number, class, college, guide name and academic year on this slide. You can click each text box and type directly.]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delays hurt passengers, and they also make scheduling difficult. The problem is that journey data grows very fast. My file has 1.5 million rows and 45 columns. That is more than a single Excel sheet can even open, so normal tools are not enough here.
So my problem statement is simple: take this large data, summarize the delays by zone, train type, departure hour and reported cause, and show the result in a dashboard that anyone can read.
I had five objectives. First, analyze the journey data. Second, find delay patterns. Third, compare zones and train types. Fourth, look at departure hours and the reported causes. And fifth, show everything in a dashboard.
On the scope side, what I did is a batch analysis of the full 1.5 million records, with storage in HDFS and Cassandra and a Streamlit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file called ir_train.csv from a Kaggle competition named Indian Railways: Predict Train Delay. It has about 1.5 million rows and 45 columns, and it is 321.5 MB in HDFS.
Again, this data is synthetic. It looks like Indian railway data, with zones and train names, but it is generated, so it is not official.
Out of the 45 columns I only use six for my summaries: zone, train type, departure hour, the main delay cause, delay minutes, and the is_delayed flag.
These are the tools I actually used. Hadoop HDFS, version 3.2.4, stores the CSV file. The processing is done by a MapReduce program that I wrote in Java and compiled with JDK 8. The summary results go into Apache Cassandra, version 3.11.0.
Python 3.14 ties everything together. The Cassandra Python driver lets Python talk to Cassandra, Pandas holds the table data, and Streamlit 1.65.0 makes the web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whole project from left to right. We start with the dataset, ir_train.csv. I upload it to Hadoop HDFS. Then my Java MapReduce program reads it from HDFS and processes it. The output is only 70 summary records, and it is written back to HDFS in a file called part-r-00000.
A Python script then loads those 70 rows into a Cassandra table. Finally, the Streamlit app reads that table and draws the charts.
The main idea is that the heavy work happens once, in MapReduce. The dashboard only reads a tiny summary table, so it is fast.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steps I followed. One: I downloaded the dataset and read the data dictionary to understand the columns. Two: I uploaded the CSV into HDFS. The screenshot at the bottom is from my own terminal. You can see the put command, the listing, and the size, 321.5 MB.
Three: I compiled the Java program into a JAR with JDK 8. Four: I ran the MapReduce job. Five: I created the Cassandra keyspace and table. Six: I loaded the 70 summary rows with a Python script. Seven: I built the Streamlit dashboard.
Everything ran locally on one machine, not on a real cluster.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MapReduce has three steps.
In the Map step, each journey row is read and sends out four key-value pairs, one each for its zone, train type, departure hour and delay cause. That is why 1.5 million input rows turn into 6 million map output records.
The Shuffle step groups the values by key. There are 70 unique keys. In the Reduce step I add up journeys and delay minutes for each key, and calculate the delay rate and averages. So the final output is 70 records: 16 zones, 15 train types, 24 hours and 15 causes.
The screenshot on the right is the real counter output from my job. One small detail: Map input records shows 1,500,001, which I believe is because the CSV header line is also read. My own counter, Processed rows, shows exactly 1,500,000.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MapReduce, the 70 summary rows are stored in Cassandra. I made a keyspace called transport_analysis and a table called delay_summary. Each row is one group, for example one zone or one departure hour. It has the category, the name, total journeys, delayed journeys, the delay rate, and two averages.
The two averages are different. avg_delay_all is the average delay over every journey in that group. avg_delay_when_delayed only counts the journeys that were actually delayed.
The screenshot shows my Python script saying it loaded 70 rows, and then the cqlsh command SELECT COUNT star returning 70. That is how I checked that all the data reached Cassandra.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Streamlit dashboard, and these are real screenshots from it. At the top are three overview numbers: 1,500,000 total journeys, 1,078,329 delayed journeys, so an overall delay rate of 71.89 percent.
The dashboard has four tabs. The first is Railway Zones. It compares the delay rate for all 16 zones, and in this dataset Eastern Railway is the highest at 89.32 percent. The second tab is Train Types, for 15 categories. Passenger Train is the highest at 88.04 percent.
Please remember the data is synthetic, so these numbers say nothing about the real Indian Railways.
The third tab shows the delay rate for each of the 24 departure hours as a line chart. The line is fairly flat, between about 71 and 77 percent, and it is a little higher late at night, from midnight to around 4 AM.
The fourth tab shows the average delay in minutes for each reported cause. I left out the On Time category because it is not a cause. Late Incoming Rake has the longest average delay, about 145 minutes.
In this tab every cause has a 100 percent delay rate. That is because only delayed journeys have a reported cause. Each tab also shows the table read from Cassandra. I did not add any extra filters.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first. These are the findings that I confirmed from my dataset. Overall, 71.89 percent of journeys are delayed. Eastern Railway has the highest zone delay rate, Passenger Train has the highest train type delay rate, late-night departures have slightly higher rates, and Late Incoming Rake has the longest average delay. All of this comes from synthetic data, so I do not present them as real railway findings.
Limitations. The data is synthetic, the analysis is batch only, the dashboard has no filters, everything ran on one machine, and it is descriptive, not predictive.
Future scope is only an idea list, I have not done it. We could add a combiner to reduce the shuffled data, add filters and more charts, use more columns, test on real data, or run on a multi-node cluster.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working big data pipeline. HDFS stores the data, a Java MapReduce program turns 1.5 million records into 70 summary rows, Cassandra stores those rows, and a Streamlit dashboard shows the delay patterns by zone, train type, departure hour and cause.
This is a learning project on a synthetic dataset, so the numbers are not official Indian Railways statistics, and it is an analysis project, not a prediction model. Thank you. I am happy to take questions.
The references on the right include the dataset, the Hadoop, Cassandra and Streamlit documentation, and the original MapReduce and Cassandra papers. [Add the date you accessed the web sources if your guide asks for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83880" y="4754880"/>
            <a:ext cx="502920" cy="365760"/>
          </a:xfrm>
          <a:prstGeom prst="rect">
            <a:avLst/>
          </a:prstGeom>
          <a:solidFill>
            <a:srgbClr val="0B1F3A"/>
          </a:solidFill>
          <a:ln/>
        </p:spPr>
      </p:sp>
      <p:sp>
        <p:nvSpPr>
          <p:cNvPr id="3" name="Text 1"/>
          <p:cNvSpPr>
            <a:spLocks noGrp="1"/>
          </p:cNvSpPr>
          <p:nvPr>
            <p:ph type="title" idx="101" hasCustomPrompt="1"/>
          </p:nvPr>
        </p:nvSpPr>
        <p:spPr>
          <a:xfrm>
            <a:off x="457200" y="438912"/>
            <a:ext cx="8229600" cy="457200"/>
          </a:xfrm>
          <a:prstGeom prst="rect">
            <a:avLst/>
          </a:prstGeom>
          <a:noFill/>
          <a:ln/>
        </p:spPr>
        <p:txBody>
          <a:bodyPr wrap="square" rtlCol="0"/>
          <a:lstStyle>
            <a:lvl1pPr marL="0" indent="0" algn="l">
              <a:buNone/>
              <a:defRPr lang="en-US" sz="2400" b="1" dirty="0">
                <a:solidFill>
                  <a:schemeClr val="tx1"/>
                </a:solidFill>
                <a:latin typeface="Calibri" pitchFamily="34" charset="0"/>
                <a:ea typeface="Calibri" pitchFamily="34" charset="-122"/>
                <a:cs typeface="Calibri" pitchFamily="34" charset="-120"/>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83880" y="4754880"/>
            <a:ext cx="502920" cy="365760"/>
          </a:xfrm>
          <a:prstGeom prst="rect">
            <a:avLst/>
          </a:prstGeom>
          <a:solidFill>
            <a:srgbClr val="C8102E"/>
          </a:solidFill>
          <a:ln/>
        </p:spPr>
      </p:sp>
      <p:sp>
        <p:nvSpPr>
          <p:cNvPr id="3" name="Text 1"/>
          <p:cNvSpPr>
            <a:spLocks noGrp="1"/>
          </p:cNvSpPr>
          <p:nvPr>
            <p:ph type="title" idx="101" hasCustomPrompt="1"/>
          </p:nvPr>
        </p:nvSpPr>
        <p:spPr>
          <a:xfrm>
            <a:off x="457200" y="438912"/>
            <a:ext cx="8229600" cy="457200"/>
          </a:xfrm>
          <a:prstGeom prst="rect">
            <a:avLst/>
          </a:prstGeom>
          <a:noFill/>
          <a:ln/>
        </p:spPr>
        <p:txBody>
          <a:bodyPr wrap="square" rtlCol="0"/>
          <a:lstStyle>
            <a:lvl1pPr marL="0" indent="0" algn="l">
              <a:buNone/>
              <a:defRPr lang="en-US" sz="2400" b="1" dirty="0">
                <a:solidFill>
                  <a:schemeClr val="bg1"/>
                </a:solidFill>
                <a:latin typeface="Calibri" pitchFamily="34" charset="0"/>
                <a:ea typeface="Calibri" pitchFamily="34" charset="-122"/>
                <a:cs typeface="Calibri" pitchFamily="34" charset="-120"/>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457200" y="256032"/>
            <a:ext cx="8229600" cy="201168"/>
          </a:xfrm>
          <a:prstGeom prst="rect">
            <a:avLst/>
          </a:prstGeom>
          <a:noFill/>
          <a:ln/>
        </p:spPr>
        <p:txBody>
          <a:bodyPr wrap="square" lIns="0" tIns="0" rIns="0" bIns="0" rtlCol="0" anchor="t"/>
          <a:lstStyle/>
          <a:p>
            <a:pPr marL="0" indent="0">
              <a:buNone/>
            </a:pPr>
            <a:r>
              <a:rPr lang="en-US" sz="950" b="1" kern="0" spc="100" dirty="0">
                <a:solidFill>
                  <a:schemeClr val="accent4"/>
                </a:solidFill>
                <a:latin typeface="Courier New" pitchFamily="34" charset="0"/>
                <a:ea typeface="Courier New" pitchFamily="34" charset="-122"/>
                <a:cs typeface="Courier New" pitchFamily="34" charset="-120"/>
              </a:rPr>
              <a:t>B.TECH  |  ARTIFICIAL INTELLIGENCE AND DATA SCIENCE  |  BIG DATA PROJECT</a:t>
            </a:r>
            <a:endParaRPr lang="en-US" sz="950" dirty="0"/>
          </a:p>
        </p:txBody>
      </p:sp>
      <p:sp>
        <p:nvSpPr>
          <p:cNvPr id="4" name="Title"/>
          <p:cNvSpPr txBox="1"/>
          <p:nvPr/>
        </p:nvSpPr>
        <p:spPr>
          <a:xfrm>
            <a:off x="457200" y="713232"/>
            <a:ext cx="5120640" cy="1371600"/>
          </a:xfrm>
          <a:prstGeom prst="rect">
            <a:avLst/>
          </a:prstGeom>
          <a:noFill/>
          <a:ln/>
        </p:spPr>
        <p:txBody>
          <a:bodyPr wrap="square" lIns="0" tIns="0" rIns="0" bIns="0" rtlCol="0" anchor="t"/>
          <a:lstStyle/>
          <a:p>
            <a:pPr marL="0" indent="0">
              <a:buNone/>
            </a:pPr>
            <a:r>
              <a:rPr lang="en-US" sz="4000" b="1" dirty="0">
                <a:solidFill>
                  <a:schemeClr val="bg1"/>
                </a:solidFill>
                <a:latin typeface="Calibri" pitchFamily="34" charset="0"/>
                <a:ea typeface="Calibri" pitchFamily="34" charset="-122"/>
                <a:cs typeface="Calibri" pitchFamily="34" charset="-120"/>
              </a:rPr>
              <a:t>Public Transport</a:t>
            </a:r>
            <a:endParaRPr lang="en-US" sz="4000" dirty="0"/>
          </a:p>
          <a:p>
            <a:pPr marL="0" indent="0">
              <a:buNone/>
            </a:pPr>
            <a:r>
              <a:rPr lang="en-US" sz="4000" b="1" dirty="0">
                <a:solidFill>
                  <a:schemeClr val="bg1"/>
                </a:solidFill>
                <a:latin typeface="Calibri" pitchFamily="34" charset="0"/>
                <a:ea typeface="Calibri" pitchFamily="34" charset="-122"/>
                <a:cs typeface="Calibri" pitchFamily="34" charset="-120"/>
              </a:rPr>
              <a:t>Delay Analysis</a:t>
            </a:r>
            <a:endParaRPr lang="en-US" sz="4000" dirty="0"/>
          </a:p>
        </p:txBody>
      </p:sp>
      <p:sp>
        <p:nvSpPr>
          <p:cNvPr id="5" name="Text 2"/>
          <p:cNvSpPr txBox="1"/>
          <p:nvPr/>
        </p:nvSpPr>
        <p:spPr>
          <a:xfrm>
            <a:off x="457200" y="2176272"/>
            <a:ext cx="4754880" cy="566928"/>
          </a:xfrm>
          <a:prstGeom prst="rect">
            <a:avLst/>
          </a:prstGeom>
          <a:noFill/>
          <a:ln/>
        </p:spPr>
        <p:txBody>
          <a:bodyPr wrap="square" lIns="0" tIns="0" rIns="0" bIns="0" rtlCol="0" anchor="t"/>
          <a:lstStyle/>
          <a:p>
            <a:pPr marL="0" indent="0">
              <a:buNone/>
            </a:pPr>
            <a:r>
              <a:rPr lang="en-US" sz="1500" dirty="0">
                <a:solidFill>
                  <a:schemeClr val="accent5"/>
                </a:solidFill>
                <a:latin typeface="Calibri" pitchFamily="34" charset="0"/>
                <a:ea typeface="Calibri" pitchFamily="34" charset="-122"/>
                <a:cs typeface="Calibri" pitchFamily="34" charset="-120"/>
              </a:rPr>
              <a:t>Analyzing railway journey delays using Hadoop, MapReduce, Cassandra and Streamlit</a:t>
            </a:r>
            <a:endParaRPr lang="en-US" sz="1500" dirty="0"/>
          </a:p>
        </p:txBody>
      </p:sp>
      <p:sp>
        <p:nvSpPr>
          <p:cNvPr id="6" name="Project details board"/>
          <p:cNvSpPr/>
          <p:nvPr/>
        </p:nvSpPr>
        <p:spPr>
          <a:xfrm>
            <a:off x="5669280" y="566928"/>
            <a:ext cx="3017520" cy="1376570"/>
          </a:xfrm>
          <a:prstGeom prst="roundRect">
            <a:avLst>
              <a:gd name="adj" fmla="val 2000"/>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7" name="Shape 4"/>
          <p:cNvSpPr/>
          <p:nvPr/>
        </p:nvSpPr>
        <p:spPr>
          <a:xfrm>
            <a:off x="5833872" y="694944"/>
            <a:ext cx="91440" cy="91440"/>
          </a:xfrm>
          <a:prstGeom prst="ellipse">
            <a:avLst/>
          </a:prstGeom>
          <a:solidFill>
            <a:srgbClr val="2FB36B"/>
          </a:solidFill>
          <a:ln w="12700">
            <a:solidFill>
              <a:srgbClr val="2FB36B"/>
            </a:solidFill>
            <a:prstDash val="solid"/>
          </a:ln>
        </p:spPr>
      </p:sp>
      <p:sp>
        <p:nvSpPr>
          <p:cNvPr id="8" name="Text 5"/>
          <p:cNvSpPr txBox="1"/>
          <p:nvPr/>
        </p:nvSpPr>
        <p:spPr>
          <a:xfrm>
            <a:off x="5998464" y="658368"/>
            <a:ext cx="2377440" cy="182880"/>
          </a:xfrm>
          <a:prstGeom prst="rect">
            <a:avLst/>
          </a:prstGeom>
          <a:noFill/>
          <a:ln/>
        </p:spPr>
        <p:txBody>
          <a:bodyPr wrap="square" lIns="0" tIns="0" rIns="0" bIns="0" rtlCol="0" anchor="t"/>
          <a:lstStyle/>
          <a:p>
            <a:pPr marL="0" indent="0">
              <a:buNone/>
            </a:pPr>
            <a:r>
              <a:rPr lang="en-US" sz="950" b="1" kern="0" spc="150" dirty="0">
                <a:solidFill>
                  <a:schemeClr val="accent5"/>
                </a:solidFill>
                <a:latin typeface="Courier New" pitchFamily="34" charset="0"/>
                <a:ea typeface="Courier New" pitchFamily="34" charset="-122"/>
                <a:cs typeface="Courier New" pitchFamily="34" charset="-120"/>
              </a:rPr>
              <a:t>PROJECT DETAILS</a:t>
            </a:r>
            <a:endParaRPr lang="en-US" sz="950" dirty="0"/>
          </a:p>
        </p:txBody>
      </p:sp>
      <p:sp>
        <p:nvSpPr>
          <p:cNvPr id="10" name="Text 7"/>
          <p:cNvSpPr txBox="1"/>
          <p:nvPr/>
        </p:nvSpPr>
        <p:spPr>
          <a:xfrm>
            <a:off x="5875284" y="1112984"/>
            <a:ext cx="2295609" cy="973172"/>
          </a:xfrm>
          <a:prstGeom prst="rect">
            <a:avLst/>
          </a:prstGeom>
          <a:noFill/>
          <a:ln/>
        </p:spPr>
        <p:txBody>
          <a:bodyPr wrap="square" lIns="0" tIns="0" rIns="0" bIns="0" rtlCol="0" anchor="t"/>
          <a:lstStyle/>
          <a:p>
            <a:r>
              <a:rPr lang="en-US" sz="1250" b="1" dirty="0">
                <a:solidFill>
                  <a:schemeClr val="accent4"/>
                </a:solidFill>
                <a:latin typeface="Courier New"/>
                <a:cs typeface="Courier New"/>
              </a:rPr>
              <a:t>Team Members: </a:t>
            </a:r>
          </a:p>
          <a:p>
            <a:r>
              <a:rPr lang="en-US" sz="1250" b="1">
                <a:solidFill>
                  <a:schemeClr val="accent4"/>
                </a:solidFill>
                <a:latin typeface="Courier New"/>
                <a:cs typeface="Courier New"/>
              </a:rPr>
              <a:t>Aastha Goyanka</a:t>
            </a:r>
            <a:r>
              <a:rPr lang="en-US" sz="1250" b="1" dirty="0">
                <a:solidFill>
                  <a:schemeClr val="accent4"/>
                </a:solidFill>
                <a:latin typeface="Courier New"/>
                <a:cs typeface="Courier New"/>
              </a:rPr>
              <a:t>(B2-B1-01)</a:t>
            </a:r>
            <a:br>
              <a:rPr lang="en-US" sz="1250" b="1" dirty="0">
                <a:solidFill>
                  <a:schemeClr val="accent4"/>
                </a:solidFill>
                <a:latin typeface="Courier New"/>
                <a:cs typeface="Courier New"/>
              </a:rPr>
            </a:br>
            <a:r>
              <a:rPr lang="en-US" sz="1250" b="1">
                <a:solidFill>
                  <a:schemeClr val="accent4"/>
                </a:solidFill>
                <a:latin typeface="Courier New"/>
                <a:cs typeface="Courier New"/>
              </a:rPr>
              <a:t>Avika Mishra(B2-B1-06)</a:t>
            </a:r>
            <a:endParaRPr lang="en-US" sz="1250" b="1" dirty="0">
              <a:solidFill>
                <a:schemeClr val="accent4"/>
              </a:solidFill>
              <a:latin typeface="Courier New"/>
              <a:cs typeface="Courier New"/>
            </a:endParaRPr>
          </a:p>
        </p:txBody>
      </p:sp>
      <p:sp>
        <p:nvSpPr>
          <p:cNvPr id="21" name="Shape 18"/>
          <p:cNvSpPr/>
          <p:nvPr/>
        </p:nvSpPr>
        <p:spPr>
          <a:xfrm>
            <a:off x="457200" y="2926080"/>
            <a:ext cx="2057400" cy="685800"/>
          </a:xfrm>
          <a:prstGeom prst="roundRect">
            <a:avLst>
              <a:gd name="adj" fmla="val 8000"/>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22" name="Text 19"/>
          <p:cNvSpPr txBox="1"/>
          <p:nvPr/>
        </p:nvSpPr>
        <p:spPr>
          <a:xfrm>
            <a:off x="566928" y="2980944"/>
            <a:ext cx="1828800" cy="365760"/>
          </a:xfrm>
          <a:prstGeom prst="rect">
            <a:avLst/>
          </a:prstGeom>
          <a:noFill/>
          <a:ln/>
        </p:spPr>
        <p:txBody>
          <a:bodyPr wrap="square" lIns="0" tIns="0" rIns="0" bIns="0" rtlCol="0" anchor="ctr"/>
          <a:lstStyle/>
          <a:p>
            <a:pPr marL="0" indent="0">
              <a:buNone/>
            </a:pPr>
            <a:r>
              <a:rPr lang="en-US" sz="2400" b="1" dirty="0">
                <a:solidFill>
                  <a:schemeClr val="accent4"/>
                </a:solidFill>
                <a:latin typeface="Courier New" pitchFamily="34" charset="0"/>
                <a:ea typeface="Courier New" pitchFamily="34" charset="-122"/>
                <a:cs typeface="Courier New" pitchFamily="34" charset="-120"/>
              </a:rPr>
              <a:t>1,500,000</a:t>
            </a:r>
            <a:endParaRPr lang="en-US" sz="2400" dirty="0"/>
          </a:p>
        </p:txBody>
      </p:sp>
      <p:sp>
        <p:nvSpPr>
          <p:cNvPr id="23" name="Text 20"/>
          <p:cNvSpPr txBox="1"/>
          <p:nvPr/>
        </p:nvSpPr>
        <p:spPr>
          <a:xfrm>
            <a:off x="566928" y="3355848"/>
            <a:ext cx="1828800" cy="182880"/>
          </a:xfrm>
          <a:prstGeom prst="rect">
            <a:avLst/>
          </a:prstGeom>
          <a:noFill/>
          <a:ln/>
        </p:spPr>
        <p:txBody>
          <a:bodyPr wrap="square" lIns="0" tIns="0" rIns="0" bIns="0" rtlCol="0" anchor="t"/>
          <a:lstStyle/>
          <a:p>
            <a:pPr marL="0" indent="0">
              <a:buNone/>
            </a:pPr>
            <a:r>
              <a:rPr lang="en-US" sz="1050" dirty="0">
                <a:solidFill>
                  <a:schemeClr val="accent5"/>
                </a:solidFill>
                <a:latin typeface="Calibri" pitchFamily="34" charset="0"/>
                <a:ea typeface="Calibri" pitchFamily="34" charset="-122"/>
                <a:cs typeface="Calibri" pitchFamily="34" charset="-120"/>
              </a:rPr>
              <a:t>journeys</a:t>
            </a:r>
            <a:endParaRPr lang="en-US" sz="1050" dirty="0"/>
          </a:p>
        </p:txBody>
      </p:sp>
      <p:sp>
        <p:nvSpPr>
          <p:cNvPr id="24" name="Shape 21"/>
          <p:cNvSpPr/>
          <p:nvPr/>
        </p:nvSpPr>
        <p:spPr>
          <a:xfrm>
            <a:off x="2633472" y="3136392"/>
            <a:ext cx="457200" cy="256032"/>
          </a:xfrm>
          <a:prstGeom prst="rightArrow">
            <a:avLst/>
          </a:prstGeom>
          <a:solidFill>
            <a:schemeClr val="accent1"/>
          </a:solidFill>
          <a:ln w="12700">
            <a:solidFill>
              <a:schemeClr val="accent1"/>
            </a:solidFill>
            <a:prstDash val="solid"/>
          </a:ln>
        </p:spPr>
      </p:sp>
      <p:sp>
        <p:nvSpPr>
          <p:cNvPr id="25" name="Shape 22"/>
          <p:cNvSpPr/>
          <p:nvPr/>
        </p:nvSpPr>
        <p:spPr>
          <a:xfrm>
            <a:off x="3200400" y="2926080"/>
            <a:ext cx="1691640" cy="685800"/>
          </a:xfrm>
          <a:prstGeom prst="roundRect">
            <a:avLst>
              <a:gd name="adj" fmla="val 8000"/>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26" name="Text 23"/>
          <p:cNvSpPr txBox="1"/>
          <p:nvPr/>
        </p:nvSpPr>
        <p:spPr>
          <a:xfrm>
            <a:off x="3310128" y="2980944"/>
            <a:ext cx="1463040" cy="365760"/>
          </a:xfrm>
          <a:prstGeom prst="rect">
            <a:avLst/>
          </a:prstGeom>
          <a:noFill/>
          <a:ln/>
        </p:spPr>
        <p:txBody>
          <a:bodyPr wrap="square" lIns="0" tIns="0" rIns="0" bIns="0" rtlCol="0" anchor="ctr"/>
          <a:lstStyle/>
          <a:p>
            <a:pPr marL="0" indent="0">
              <a:buNone/>
            </a:pPr>
            <a:r>
              <a:rPr lang="en-US" sz="2400" b="1" dirty="0">
                <a:solidFill>
                  <a:schemeClr val="accent4"/>
                </a:solidFill>
                <a:latin typeface="Courier New" pitchFamily="34" charset="0"/>
                <a:ea typeface="Courier New" pitchFamily="34" charset="-122"/>
                <a:cs typeface="Courier New" pitchFamily="34" charset="-120"/>
              </a:rPr>
              <a:t>70</a:t>
            </a:r>
            <a:endParaRPr lang="en-US" sz="2400" dirty="0"/>
          </a:p>
        </p:txBody>
      </p:sp>
      <p:sp>
        <p:nvSpPr>
          <p:cNvPr id="27" name="Text 24"/>
          <p:cNvSpPr txBox="1"/>
          <p:nvPr/>
        </p:nvSpPr>
        <p:spPr>
          <a:xfrm>
            <a:off x="3310128" y="3355848"/>
            <a:ext cx="1463040" cy="182880"/>
          </a:xfrm>
          <a:prstGeom prst="rect">
            <a:avLst/>
          </a:prstGeom>
          <a:noFill/>
          <a:ln/>
        </p:spPr>
        <p:txBody>
          <a:bodyPr wrap="square" lIns="0" tIns="0" rIns="0" bIns="0" rtlCol="0" anchor="t"/>
          <a:lstStyle/>
          <a:p>
            <a:pPr marL="0" indent="0">
              <a:buNone/>
            </a:pPr>
            <a:r>
              <a:rPr lang="en-US" sz="1050" dirty="0">
                <a:solidFill>
                  <a:schemeClr val="accent5"/>
                </a:solidFill>
                <a:latin typeface="Calibri" pitchFamily="34" charset="0"/>
                <a:ea typeface="Calibri" pitchFamily="34" charset="-122"/>
                <a:cs typeface="Calibri" pitchFamily="34" charset="-120"/>
              </a:rPr>
              <a:t>summary rows</a:t>
            </a:r>
            <a:endParaRPr lang="en-US" sz="1050" dirty="0"/>
          </a:p>
        </p:txBody>
      </p:sp>
      <p:sp>
        <p:nvSpPr>
          <p:cNvPr id="28" name="Text 25"/>
          <p:cNvSpPr txBox="1"/>
          <p:nvPr/>
        </p:nvSpPr>
        <p:spPr>
          <a:xfrm>
            <a:off x="457200" y="3712464"/>
            <a:ext cx="5029200" cy="201168"/>
          </a:xfrm>
          <a:prstGeom prst="rect">
            <a:avLst/>
          </a:prstGeom>
          <a:noFill/>
          <a:ln/>
        </p:spPr>
        <p:txBody>
          <a:bodyPr wrap="square" lIns="0" tIns="0" rIns="0" bIns="0" rtlCol="0" anchor="t"/>
          <a:lstStyle/>
          <a:p>
            <a:pPr marL="0" indent="0">
              <a:buNone/>
            </a:pPr>
            <a:r>
              <a:rPr lang="en-US" sz="1050" i="1" dirty="0">
                <a:solidFill>
                  <a:schemeClr val="accent5"/>
                </a:solidFill>
                <a:latin typeface="Calibri" pitchFamily="34" charset="0"/>
                <a:ea typeface="Calibri" pitchFamily="34" charset="-122"/>
                <a:cs typeface="Calibri" pitchFamily="34" charset="-120"/>
              </a:rPr>
              <a:t>Synthetic Kaggle dataset. Not official Indian Railways data.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02  |  INTRODUCTION</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Introduction, Objectives and Scope</a:t>
            </a:r>
            <a:endParaRPr lang="en-US" sz="2400" dirty="0"/>
          </a:p>
        </p:txBody>
      </p:sp>
      <p:sp>
        <p:nvSpPr>
          <p:cNvPr id="5" name="Shape 2"/>
          <p:cNvSpPr/>
          <p:nvPr/>
        </p:nvSpPr>
        <p:spPr>
          <a:xfrm>
            <a:off x="457200" y="1051560"/>
            <a:ext cx="4023360" cy="1691640"/>
          </a:xfrm>
          <a:prstGeom prst="roundRect">
            <a:avLst>
              <a:gd name="adj" fmla="val 3243"/>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6" name="Text 3"/>
          <p:cNvSpPr txBox="1"/>
          <p:nvPr/>
        </p:nvSpPr>
        <p:spPr>
          <a:xfrm>
            <a:off x="640080" y="1143000"/>
            <a:ext cx="27432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Background</a:t>
            </a:r>
            <a:endParaRPr lang="en-US" sz="1400" dirty="0"/>
          </a:p>
        </p:txBody>
      </p:sp>
      <p:pic>
        <p:nvPicPr>
          <p:cNvPr id="7" name="Image 0" descr="Route icon"/>
          <p:cNvPicPr>
            <a:picLocks noChangeAspect="1"/>
          </p:cNvPicPr>
          <p:nvPr/>
        </p:nvPicPr>
        <p:blipFill>
          <a:blip r:embed="rId3"/>
          <a:stretch>
            <a:fillRect/>
          </a:stretch>
        </p:blipFill>
        <p:spPr>
          <a:xfrm>
            <a:off x="4114800" y="1161288"/>
            <a:ext cx="237744" cy="237744"/>
          </a:xfrm>
          <a:prstGeom prst="rect">
            <a:avLst/>
          </a:prstGeom>
        </p:spPr>
      </p:pic>
      <p:sp>
        <p:nvSpPr>
          <p:cNvPr id="8" name="Text 4"/>
          <p:cNvSpPr txBox="1"/>
          <p:nvPr/>
        </p:nvSpPr>
        <p:spPr>
          <a:xfrm>
            <a:off x="640080" y="1463040"/>
            <a:ext cx="3657600" cy="126187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Train delays affect passengers and make planning harder.</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Journey data is huge. This file has 1.5 million rows and 45 columns, more than one Excel sheet can hold.</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Big data tools can store and process such data in parallel.</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This project builds a full pipeline: store, process, save and show.</a:t>
            </a:r>
            <a:endParaRPr lang="en-US" sz="1150" dirty="0"/>
          </a:p>
        </p:txBody>
      </p:sp>
      <p:sp>
        <p:nvSpPr>
          <p:cNvPr id="9" name="Shape 5"/>
          <p:cNvSpPr/>
          <p:nvPr/>
        </p:nvSpPr>
        <p:spPr>
          <a:xfrm>
            <a:off x="457200" y="2880360"/>
            <a:ext cx="4023360" cy="1737360"/>
          </a:xfrm>
          <a:prstGeom prst="roundRect">
            <a:avLst>
              <a:gd name="adj" fmla="val 3158"/>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10" name="Text 6"/>
          <p:cNvSpPr txBox="1"/>
          <p:nvPr/>
        </p:nvSpPr>
        <p:spPr>
          <a:xfrm>
            <a:off x="640080" y="2990088"/>
            <a:ext cx="3200400" cy="237744"/>
          </a:xfrm>
          <a:prstGeom prst="rect">
            <a:avLst/>
          </a:prstGeom>
          <a:noFill/>
          <a:ln/>
        </p:spPr>
        <p:txBody>
          <a:bodyPr wrap="square" lIns="0" tIns="0" rIns="0" bIns="0" rtlCol="0" anchor="t"/>
          <a:lstStyle/>
          <a:p>
            <a:pPr marL="0" indent="0">
              <a:buNone/>
            </a:pPr>
            <a:r>
              <a:rPr lang="en-US" sz="1300" b="1" dirty="0">
                <a:solidFill>
                  <a:schemeClr val="accent4"/>
                </a:solidFill>
                <a:latin typeface="Calibri" pitchFamily="34" charset="0"/>
                <a:ea typeface="Calibri" pitchFamily="34" charset="-122"/>
                <a:cs typeface="Calibri" pitchFamily="34" charset="-120"/>
              </a:rPr>
              <a:t>Problem statement</a:t>
            </a:r>
            <a:endParaRPr lang="en-US" sz="1300" dirty="0"/>
          </a:p>
        </p:txBody>
      </p:sp>
      <p:sp>
        <p:nvSpPr>
          <p:cNvPr id="11" name="Text 7"/>
          <p:cNvSpPr txBox="1"/>
          <p:nvPr/>
        </p:nvSpPr>
        <p:spPr>
          <a:xfrm>
            <a:off x="640080" y="3310128"/>
            <a:ext cx="3657600" cy="1280160"/>
          </a:xfrm>
          <a:prstGeom prst="rect">
            <a:avLst/>
          </a:prstGeom>
          <a:noFill/>
          <a:ln/>
        </p:spPr>
        <p:txBody>
          <a:bodyPr wrap="square" lIns="0" tIns="0" rIns="0" bIns="0" rtlCol="0" anchor="t"/>
          <a:lstStyle/>
          <a:p>
            <a:pPr marL="0" indent="0">
              <a:buNone/>
            </a:pPr>
            <a:r>
              <a:rPr lang="en-US" sz="1300" dirty="0">
                <a:solidFill>
                  <a:schemeClr val="bg1"/>
                </a:solidFill>
                <a:latin typeface="Calibri" pitchFamily="34" charset="0"/>
                <a:ea typeface="Calibri" pitchFamily="34" charset="-122"/>
                <a:cs typeface="Calibri" pitchFamily="34" charset="-120"/>
              </a:rPr>
              <a:t>Railway journey data is too large to analyze by hand. We need to process about 1.5 million records, summarize delays by railway zone, train type, departure hour and reported cause, and show the results in a simple dashboard.</a:t>
            </a:r>
            <a:endParaRPr lang="en-US" sz="1300" dirty="0"/>
          </a:p>
        </p:txBody>
      </p:sp>
      <p:sp>
        <p:nvSpPr>
          <p:cNvPr id="12" name="Shape 8"/>
          <p:cNvSpPr/>
          <p:nvPr/>
        </p:nvSpPr>
        <p:spPr>
          <a:xfrm>
            <a:off x="4663440" y="1051560"/>
            <a:ext cx="4023360" cy="2286000"/>
          </a:xfrm>
          <a:prstGeom prst="roundRect">
            <a:avLst>
              <a:gd name="adj" fmla="val 2400"/>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13" name="Text 9"/>
          <p:cNvSpPr txBox="1"/>
          <p:nvPr/>
        </p:nvSpPr>
        <p:spPr>
          <a:xfrm>
            <a:off x="4846320" y="1143000"/>
            <a:ext cx="27432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Objectives</a:t>
            </a:r>
            <a:endParaRPr lang="en-US" sz="1400" dirty="0"/>
          </a:p>
        </p:txBody>
      </p:sp>
      <p:sp>
        <p:nvSpPr>
          <p:cNvPr id="14" name="Shape 10"/>
          <p:cNvSpPr/>
          <p:nvPr/>
        </p:nvSpPr>
        <p:spPr>
          <a:xfrm>
            <a:off x="4983480" y="1627632"/>
            <a:ext cx="0" cy="1536192"/>
          </a:xfrm>
          <a:prstGeom prst="line">
            <a:avLst/>
          </a:prstGeom>
          <a:noFill/>
          <a:ln w="38100">
            <a:solidFill>
              <a:schemeClr val="accent2"/>
            </a:solidFill>
            <a:prstDash val="solid"/>
          </a:ln>
        </p:spPr>
      </p:sp>
      <p:sp>
        <p:nvSpPr>
          <p:cNvPr id="15" name="Text 11"/>
          <p:cNvSpPr txBox="1"/>
          <p:nvPr/>
        </p:nvSpPr>
        <p:spPr>
          <a:xfrm>
            <a:off x="4860036" y="1504188"/>
            <a:ext cx="246888" cy="246888"/>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6" name="Text 12"/>
          <p:cNvSpPr txBox="1"/>
          <p:nvPr/>
        </p:nvSpPr>
        <p:spPr>
          <a:xfrm>
            <a:off x="5303520" y="1453896"/>
            <a:ext cx="3246120" cy="34747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Analyze railway journey data</a:t>
            </a:r>
            <a:endParaRPr lang="en-US" sz="1150" dirty="0"/>
          </a:p>
        </p:txBody>
      </p:sp>
      <p:sp>
        <p:nvSpPr>
          <p:cNvPr id="17" name="Text 13"/>
          <p:cNvSpPr txBox="1"/>
          <p:nvPr/>
        </p:nvSpPr>
        <p:spPr>
          <a:xfrm>
            <a:off x="4860036" y="1888236"/>
            <a:ext cx="246888" cy="246888"/>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8" name="Text 14"/>
          <p:cNvSpPr txBox="1"/>
          <p:nvPr/>
        </p:nvSpPr>
        <p:spPr>
          <a:xfrm>
            <a:off x="5303520" y="1837944"/>
            <a:ext cx="3246120" cy="34747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Find delay patterns</a:t>
            </a:r>
            <a:endParaRPr lang="en-US" sz="1150" dirty="0"/>
          </a:p>
        </p:txBody>
      </p:sp>
      <p:sp>
        <p:nvSpPr>
          <p:cNvPr id="19" name="Text 15"/>
          <p:cNvSpPr txBox="1"/>
          <p:nvPr/>
        </p:nvSpPr>
        <p:spPr>
          <a:xfrm>
            <a:off x="4860036" y="2272284"/>
            <a:ext cx="246888" cy="246888"/>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6"/>
          <p:cNvSpPr txBox="1"/>
          <p:nvPr/>
        </p:nvSpPr>
        <p:spPr>
          <a:xfrm>
            <a:off x="5303520" y="2221992"/>
            <a:ext cx="3246120" cy="34747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Compare delays across railway zones and train types</a:t>
            </a:r>
            <a:endParaRPr lang="en-US" sz="1150" dirty="0"/>
          </a:p>
        </p:txBody>
      </p:sp>
      <p:sp>
        <p:nvSpPr>
          <p:cNvPr id="21" name="Text 17"/>
          <p:cNvSpPr txBox="1"/>
          <p:nvPr/>
        </p:nvSpPr>
        <p:spPr>
          <a:xfrm>
            <a:off x="4860036" y="2656332"/>
            <a:ext cx="246888" cy="246888"/>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18"/>
          <p:cNvSpPr txBox="1"/>
          <p:nvPr/>
        </p:nvSpPr>
        <p:spPr>
          <a:xfrm>
            <a:off x="5303520" y="2606040"/>
            <a:ext cx="3246120" cy="34747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Study departure hours and reported delay causes</a:t>
            </a:r>
            <a:endParaRPr lang="en-US" sz="1150" dirty="0"/>
          </a:p>
        </p:txBody>
      </p:sp>
      <p:sp>
        <p:nvSpPr>
          <p:cNvPr id="23" name="Text 19"/>
          <p:cNvSpPr txBox="1"/>
          <p:nvPr/>
        </p:nvSpPr>
        <p:spPr>
          <a:xfrm>
            <a:off x="4860036" y="3040380"/>
            <a:ext cx="246888" cy="246888"/>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0"/>
          <p:cNvSpPr txBox="1"/>
          <p:nvPr/>
        </p:nvSpPr>
        <p:spPr>
          <a:xfrm>
            <a:off x="5303520" y="2990088"/>
            <a:ext cx="3246120" cy="34747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Show the results in a dashboard</a:t>
            </a:r>
            <a:endParaRPr lang="en-US" sz="1150" dirty="0"/>
          </a:p>
        </p:txBody>
      </p:sp>
      <p:sp>
        <p:nvSpPr>
          <p:cNvPr id="25" name="Shape 21"/>
          <p:cNvSpPr/>
          <p:nvPr/>
        </p:nvSpPr>
        <p:spPr>
          <a:xfrm>
            <a:off x="4663440" y="3456432"/>
            <a:ext cx="4023360" cy="1161288"/>
          </a:xfrm>
          <a:prstGeom prst="roundRect">
            <a:avLst>
              <a:gd name="adj" fmla="val 4724"/>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26" name="Text 22"/>
          <p:cNvSpPr txBox="1"/>
          <p:nvPr/>
        </p:nvSpPr>
        <p:spPr>
          <a:xfrm>
            <a:off x="4846320" y="3529584"/>
            <a:ext cx="2743200" cy="256032"/>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In scope</a:t>
            </a:r>
            <a:endParaRPr lang="en-US" sz="1400" dirty="0"/>
          </a:p>
        </p:txBody>
      </p:sp>
      <p:pic>
        <p:nvPicPr>
          <p:cNvPr id="27" name="Image 1" descr="Check"/>
          <p:cNvPicPr>
            <a:picLocks noChangeAspect="1"/>
          </p:cNvPicPr>
          <p:nvPr/>
        </p:nvPicPr>
        <p:blipFill>
          <a:blip r:embed="rId4"/>
          <a:stretch>
            <a:fillRect/>
          </a:stretch>
        </p:blipFill>
        <p:spPr>
          <a:xfrm>
            <a:off x="4846320" y="3886200"/>
            <a:ext cx="137160" cy="137160"/>
          </a:xfrm>
          <a:prstGeom prst="rect">
            <a:avLst/>
          </a:prstGeom>
        </p:spPr>
      </p:pic>
      <p:sp>
        <p:nvSpPr>
          <p:cNvPr id="28" name="Text 23"/>
          <p:cNvSpPr txBox="1"/>
          <p:nvPr/>
        </p:nvSpPr>
        <p:spPr>
          <a:xfrm>
            <a:off x="5047488" y="3858768"/>
            <a:ext cx="1645920" cy="329184"/>
          </a:xfrm>
          <a:prstGeom prst="rect">
            <a:avLst/>
          </a:prstGeom>
          <a:noFill/>
          <a:ln/>
        </p:spPr>
        <p:txBody>
          <a:bodyPr wrap="square" lIns="0" tIns="0" rIns="0" bIns="0" rtlCol="0" anchor="t"/>
          <a:lstStyle/>
          <a:p>
            <a:pPr marL="0" indent="0">
              <a:buNone/>
            </a:pPr>
            <a:r>
              <a:rPr lang="en-US" sz="1050" dirty="0">
                <a:solidFill>
                  <a:schemeClr val="tx1"/>
                </a:solidFill>
                <a:latin typeface="Calibri" pitchFamily="34" charset="0"/>
                <a:ea typeface="Calibri" pitchFamily="34" charset="-122"/>
                <a:cs typeface="Calibri" pitchFamily="34" charset="-120"/>
              </a:rPr>
              <a:t>Batch analysis of 1.5M records</a:t>
            </a:r>
            <a:endParaRPr lang="en-US" sz="1050" dirty="0"/>
          </a:p>
        </p:txBody>
      </p:sp>
      <p:pic>
        <p:nvPicPr>
          <p:cNvPr id="29" name="Image 2" descr="Check"/>
          <p:cNvPicPr>
            <a:picLocks noChangeAspect="1"/>
          </p:cNvPicPr>
          <p:nvPr/>
        </p:nvPicPr>
        <p:blipFill>
          <a:blip r:embed="rId4"/>
          <a:stretch>
            <a:fillRect/>
          </a:stretch>
        </p:blipFill>
        <p:spPr>
          <a:xfrm>
            <a:off x="6766560" y="3886200"/>
            <a:ext cx="137160" cy="137160"/>
          </a:xfrm>
          <a:prstGeom prst="rect">
            <a:avLst/>
          </a:prstGeom>
        </p:spPr>
      </p:pic>
      <p:sp>
        <p:nvSpPr>
          <p:cNvPr id="30" name="Text 24"/>
          <p:cNvSpPr txBox="1"/>
          <p:nvPr/>
        </p:nvSpPr>
        <p:spPr>
          <a:xfrm>
            <a:off x="6967728" y="3858768"/>
            <a:ext cx="1645920" cy="329184"/>
          </a:xfrm>
          <a:prstGeom prst="rect">
            <a:avLst/>
          </a:prstGeom>
          <a:noFill/>
          <a:ln/>
        </p:spPr>
        <p:txBody>
          <a:bodyPr wrap="square" lIns="0" tIns="0" rIns="0" bIns="0" rtlCol="0" anchor="t"/>
          <a:lstStyle/>
          <a:p>
            <a:pPr marL="0" indent="0">
              <a:buNone/>
            </a:pPr>
            <a:r>
              <a:rPr lang="en-US" sz="1050" dirty="0">
                <a:solidFill>
                  <a:schemeClr val="tx1"/>
                </a:solidFill>
                <a:latin typeface="Calibri" pitchFamily="34" charset="0"/>
                <a:ea typeface="Calibri" pitchFamily="34" charset="-122"/>
                <a:cs typeface="Calibri" pitchFamily="34" charset="-120"/>
              </a:rPr>
              <a:t>Zones, train types, hours, causes</a:t>
            </a:r>
            <a:endParaRPr lang="en-US" sz="1050" dirty="0"/>
          </a:p>
        </p:txBody>
      </p:sp>
      <p:pic>
        <p:nvPicPr>
          <p:cNvPr id="31" name="Image 3" descr="Check"/>
          <p:cNvPicPr>
            <a:picLocks noChangeAspect="1"/>
          </p:cNvPicPr>
          <p:nvPr/>
        </p:nvPicPr>
        <p:blipFill>
          <a:blip r:embed="rId4"/>
          <a:stretch>
            <a:fillRect/>
          </a:stretch>
        </p:blipFill>
        <p:spPr>
          <a:xfrm>
            <a:off x="4846320" y="4251960"/>
            <a:ext cx="137160" cy="137160"/>
          </a:xfrm>
          <a:prstGeom prst="rect">
            <a:avLst/>
          </a:prstGeom>
        </p:spPr>
      </p:pic>
      <p:sp>
        <p:nvSpPr>
          <p:cNvPr id="32" name="Text 25"/>
          <p:cNvSpPr txBox="1"/>
          <p:nvPr/>
        </p:nvSpPr>
        <p:spPr>
          <a:xfrm>
            <a:off x="5047488" y="4224528"/>
            <a:ext cx="1645920" cy="329184"/>
          </a:xfrm>
          <a:prstGeom prst="rect">
            <a:avLst/>
          </a:prstGeom>
          <a:noFill/>
          <a:ln/>
        </p:spPr>
        <p:txBody>
          <a:bodyPr wrap="square" lIns="0" tIns="0" rIns="0" bIns="0" rtlCol="0" anchor="t"/>
          <a:lstStyle/>
          <a:p>
            <a:pPr marL="0" indent="0">
              <a:buNone/>
            </a:pPr>
            <a:r>
              <a:rPr lang="en-US" sz="1050" dirty="0">
                <a:solidFill>
                  <a:schemeClr val="tx1"/>
                </a:solidFill>
                <a:latin typeface="Calibri" pitchFamily="34" charset="0"/>
                <a:ea typeface="Calibri" pitchFamily="34" charset="-122"/>
                <a:cs typeface="Calibri" pitchFamily="34" charset="-120"/>
              </a:rPr>
              <a:t>HDFS and Cassandra storage</a:t>
            </a:r>
            <a:endParaRPr lang="en-US" sz="1050" dirty="0"/>
          </a:p>
        </p:txBody>
      </p:sp>
      <p:pic>
        <p:nvPicPr>
          <p:cNvPr id="33" name="Image 4" descr="Check"/>
          <p:cNvPicPr>
            <a:picLocks noChangeAspect="1"/>
          </p:cNvPicPr>
          <p:nvPr/>
        </p:nvPicPr>
        <p:blipFill>
          <a:blip r:embed="rId4"/>
          <a:stretch>
            <a:fillRect/>
          </a:stretch>
        </p:blipFill>
        <p:spPr>
          <a:xfrm>
            <a:off x="6766560" y="4251960"/>
            <a:ext cx="137160" cy="137160"/>
          </a:xfrm>
          <a:prstGeom prst="rect">
            <a:avLst/>
          </a:prstGeom>
        </p:spPr>
      </p:pic>
      <p:sp>
        <p:nvSpPr>
          <p:cNvPr id="34" name="Text 26"/>
          <p:cNvSpPr txBox="1"/>
          <p:nvPr/>
        </p:nvSpPr>
        <p:spPr>
          <a:xfrm>
            <a:off x="6967728" y="4224528"/>
            <a:ext cx="1645920" cy="329184"/>
          </a:xfrm>
          <a:prstGeom prst="rect">
            <a:avLst/>
          </a:prstGeom>
          <a:noFill/>
          <a:ln/>
        </p:spPr>
        <p:txBody>
          <a:bodyPr wrap="square" lIns="0" tIns="0" rIns="0" bIns="0" rtlCol="0" anchor="t"/>
          <a:lstStyle/>
          <a:p>
            <a:pPr marL="0" indent="0">
              <a:buNone/>
            </a:pPr>
            <a:r>
              <a:rPr lang="en-US" sz="1050" dirty="0">
                <a:solidFill>
                  <a:schemeClr val="tx1"/>
                </a:solidFill>
                <a:latin typeface="Calibri" pitchFamily="34" charset="0"/>
                <a:ea typeface="Calibri" pitchFamily="34" charset="-122"/>
                <a:cs typeface="Calibri" pitchFamily="34" charset="-120"/>
              </a:rPr>
              <a:t>Streamlit dashboard</a:t>
            </a:r>
            <a:endParaRPr lang="en-US" sz="1050" dirty="0"/>
          </a:p>
        </p:txBody>
      </p:sp>
      <p:sp>
        <p:nvSpPr>
          <p:cNvPr id="35" name="Current station marker"/>
          <p:cNvSpPr/>
          <p:nvPr/>
        </p:nvSpPr>
        <p:spPr>
          <a:xfrm>
            <a:off x="1357884"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03  |  DATASET &amp; TECHNOLOGY</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Dataset Description and Technologies Used</a:t>
            </a:r>
            <a:endParaRPr lang="en-US" sz="2400" dirty="0"/>
          </a:p>
        </p:txBody>
      </p:sp>
      <p:sp>
        <p:nvSpPr>
          <p:cNvPr id="5" name="Shape 2"/>
          <p:cNvSpPr/>
          <p:nvPr/>
        </p:nvSpPr>
        <p:spPr>
          <a:xfrm>
            <a:off x="457200" y="1051560"/>
            <a:ext cx="1307592" cy="658368"/>
          </a:xfrm>
          <a:prstGeom prst="roundRect">
            <a:avLst>
              <a:gd name="adj" fmla="val 8333"/>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6" name="Text 3"/>
          <p:cNvSpPr txBox="1"/>
          <p:nvPr/>
        </p:nvSpPr>
        <p:spPr>
          <a:xfrm>
            <a:off x="457200" y="1088136"/>
            <a:ext cx="1307592" cy="329184"/>
          </a:xfrm>
          <a:prstGeom prst="rect">
            <a:avLst/>
          </a:prstGeom>
          <a:noFill/>
          <a:ln/>
        </p:spPr>
        <p:txBody>
          <a:bodyPr wrap="square" lIns="0" tIns="0" rIns="0" bIns="0" rtlCol="0" anchor="ctr"/>
          <a:lstStyle/>
          <a:p>
            <a:pPr marL="0" indent="0" algn="ctr">
              <a:buNone/>
            </a:pPr>
            <a:r>
              <a:rPr lang="en-US" sz="1900" b="1" dirty="0">
                <a:solidFill>
                  <a:schemeClr val="accent4"/>
                </a:solidFill>
                <a:latin typeface="Courier New" pitchFamily="34" charset="0"/>
                <a:ea typeface="Courier New" pitchFamily="34" charset="-122"/>
                <a:cs typeface="Courier New" pitchFamily="34" charset="-120"/>
              </a:rPr>
              <a:t>1.5 M</a:t>
            </a:r>
            <a:endParaRPr lang="en-US" sz="1900" dirty="0"/>
          </a:p>
        </p:txBody>
      </p:sp>
      <p:sp>
        <p:nvSpPr>
          <p:cNvPr id="7" name="Text 4"/>
          <p:cNvSpPr txBox="1"/>
          <p:nvPr/>
        </p:nvSpPr>
        <p:spPr>
          <a:xfrm>
            <a:off x="457200" y="1426464"/>
            <a:ext cx="1307592" cy="201168"/>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rows (journeys)</a:t>
            </a:r>
            <a:endParaRPr lang="en-US" sz="1000" dirty="0"/>
          </a:p>
        </p:txBody>
      </p:sp>
      <p:sp>
        <p:nvSpPr>
          <p:cNvPr id="8" name="Shape 5"/>
          <p:cNvSpPr/>
          <p:nvPr/>
        </p:nvSpPr>
        <p:spPr>
          <a:xfrm>
            <a:off x="1837944" y="1051560"/>
            <a:ext cx="1307592" cy="658368"/>
          </a:xfrm>
          <a:prstGeom prst="roundRect">
            <a:avLst>
              <a:gd name="adj" fmla="val 8333"/>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9" name="Text 6"/>
          <p:cNvSpPr txBox="1"/>
          <p:nvPr/>
        </p:nvSpPr>
        <p:spPr>
          <a:xfrm>
            <a:off x="1837944" y="1088136"/>
            <a:ext cx="1307592" cy="329184"/>
          </a:xfrm>
          <a:prstGeom prst="rect">
            <a:avLst/>
          </a:prstGeom>
          <a:noFill/>
          <a:ln/>
        </p:spPr>
        <p:txBody>
          <a:bodyPr wrap="square" lIns="0" tIns="0" rIns="0" bIns="0" rtlCol="0" anchor="ctr"/>
          <a:lstStyle/>
          <a:p>
            <a:pPr marL="0" indent="0" algn="ctr">
              <a:buNone/>
            </a:pPr>
            <a:r>
              <a:rPr lang="en-US" sz="1900" b="1" dirty="0">
                <a:solidFill>
                  <a:schemeClr val="accent4"/>
                </a:solidFill>
                <a:latin typeface="Courier New" pitchFamily="34" charset="0"/>
                <a:ea typeface="Courier New" pitchFamily="34" charset="-122"/>
                <a:cs typeface="Courier New" pitchFamily="34" charset="-120"/>
              </a:rPr>
              <a:t>45</a:t>
            </a:r>
            <a:endParaRPr lang="en-US" sz="1900" dirty="0"/>
          </a:p>
        </p:txBody>
      </p:sp>
      <p:sp>
        <p:nvSpPr>
          <p:cNvPr id="10" name="Text 7"/>
          <p:cNvSpPr txBox="1"/>
          <p:nvPr/>
        </p:nvSpPr>
        <p:spPr>
          <a:xfrm>
            <a:off x="1837944" y="1426464"/>
            <a:ext cx="1307592" cy="201168"/>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columns</a:t>
            </a:r>
            <a:endParaRPr lang="en-US" sz="1000" dirty="0"/>
          </a:p>
        </p:txBody>
      </p:sp>
      <p:sp>
        <p:nvSpPr>
          <p:cNvPr id="11" name="Shape 8"/>
          <p:cNvSpPr/>
          <p:nvPr/>
        </p:nvSpPr>
        <p:spPr>
          <a:xfrm>
            <a:off x="3218688" y="1051560"/>
            <a:ext cx="1307592" cy="658368"/>
          </a:xfrm>
          <a:prstGeom prst="roundRect">
            <a:avLst>
              <a:gd name="adj" fmla="val 8333"/>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12" name="Text 9"/>
          <p:cNvSpPr txBox="1"/>
          <p:nvPr/>
        </p:nvSpPr>
        <p:spPr>
          <a:xfrm>
            <a:off x="3218688" y="1088136"/>
            <a:ext cx="1307592" cy="329184"/>
          </a:xfrm>
          <a:prstGeom prst="rect">
            <a:avLst/>
          </a:prstGeom>
          <a:noFill/>
          <a:ln/>
        </p:spPr>
        <p:txBody>
          <a:bodyPr wrap="square" lIns="0" tIns="0" rIns="0" bIns="0" rtlCol="0" anchor="ctr"/>
          <a:lstStyle/>
          <a:p>
            <a:pPr marL="0" indent="0" algn="ctr">
              <a:buNone/>
            </a:pPr>
            <a:r>
              <a:rPr lang="en-US" sz="1900" b="1" dirty="0">
                <a:solidFill>
                  <a:schemeClr val="accent4"/>
                </a:solidFill>
                <a:latin typeface="Courier New" pitchFamily="34" charset="0"/>
                <a:ea typeface="Courier New" pitchFamily="34" charset="-122"/>
                <a:cs typeface="Courier New" pitchFamily="34" charset="-120"/>
              </a:rPr>
              <a:t>321.5 MB</a:t>
            </a:r>
            <a:endParaRPr lang="en-US" sz="1900" dirty="0"/>
          </a:p>
        </p:txBody>
      </p:sp>
      <p:sp>
        <p:nvSpPr>
          <p:cNvPr id="13" name="Text 10"/>
          <p:cNvSpPr txBox="1"/>
          <p:nvPr/>
        </p:nvSpPr>
        <p:spPr>
          <a:xfrm>
            <a:off x="3218688" y="1426464"/>
            <a:ext cx="1307592" cy="201168"/>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file size in HDFS</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810512"/>
          <a:ext cx="4069080" cy="2185416"/>
        </p:xfrm>
        <a:graphic>
          <a:graphicData uri="http://schemas.openxmlformats.org/drawingml/2006/table">
            <a:tbl>
              <a:tblPr/>
              <a:tblGrid>
                <a:gridCol w="16459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Column</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1F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0B1F3A"/>
                          </a:solidFill>
                          <a:latin typeface="Courier New" pitchFamily="34" charset="0"/>
                          <a:ea typeface="Courier New" pitchFamily="34" charset="-122"/>
                          <a:cs typeface="Courier New" pitchFamily="34" charset="-120"/>
                        </a:rPr>
                        <a:t>zone</a:t>
                      </a:r>
                      <a:endParaRPr lang="en-US" sz="1000" dirty="0">
                        <a:latin typeface="Courier New" charset="0"/>
                        <a:ea typeface="Courier New" charset="0"/>
                        <a:cs typeface="Courier New"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Railway zone of the journey (16 zones)</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dirty="0">
                          <a:solidFill>
                            <a:srgbClr val="0B1F3A"/>
                          </a:solidFill>
                          <a:latin typeface="Courier New" pitchFamily="34" charset="0"/>
                          <a:ea typeface="Courier New" pitchFamily="34" charset="-122"/>
                          <a:cs typeface="Courier New" pitchFamily="34" charset="-120"/>
                        </a:rPr>
                        <a:t>train_type</a:t>
                      </a:r>
                      <a:endParaRPr lang="en-US" sz="1000" dirty="0">
                        <a:latin typeface="Courier New" charset="0"/>
                        <a:ea typeface="Courier New" charset="0"/>
                        <a:cs typeface="Courier New"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Category of train (15 types)</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2"/>
                  </a:ext>
                </a:extLst>
              </a:tr>
              <a:tr h="301752">
                <a:tc>
                  <a:txBody>
                    <a:bodyPr/>
                    <a:lstStyle/>
                    <a:p>
                      <a:pPr marL="0" indent="0">
                        <a:buNone/>
                      </a:pPr>
                      <a:r>
                        <a:rPr lang="en-US" sz="1000" dirty="0">
                          <a:solidFill>
                            <a:srgbClr val="0B1F3A"/>
                          </a:solidFill>
                          <a:latin typeface="Courier New" pitchFamily="34" charset="0"/>
                          <a:ea typeface="Courier New" pitchFamily="34" charset="-122"/>
                          <a:cs typeface="Courier New" pitchFamily="34" charset="-120"/>
                        </a:rPr>
                        <a:t>departure_hour</a:t>
                      </a:r>
                      <a:endParaRPr lang="en-US" sz="1000" dirty="0">
                        <a:latin typeface="Courier New" charset="0"/>
                        <a:ea typeface="Courier New" charset="0"/>
                        <a:cs typeface="Courier New"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Scheduled departure hour, 0 to 23</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00" dirty="0">
                          <a:solidFill>
                            <a:srgbClr val="0B1F3A"/>
                          </a:solidFill>
                          <a:latin typeface="Courier New" pitchFamily="34" charset="0"/>
                          <a:ea typeface="Courier New" pitchFamily="34" charset="-122"/>
                          <a:cs typeface="Courier New" pitchFamily="34" charset="-120"/>
                        </a:rPr>
                        <a:t>primary_delay_cause</a:t>
                      </a:r>
                      <a:endParaRPr lang="en-US" sz="1000" dirty="0">
                        <a:latin typeface="Courier New" charset="0"/>
                        <a:ea typeface="Courier New" charset="0"/>
                        <a:cs typeface="Courier New"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Main reported cause (15 values, incl. On Time)</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4"/>
                  </a:ext>
                </a:extLst>
              </a:tr>
              <a:tr h="301752">
                <a:tc>
                  <a:txBody>
                    <a:bodyPr/>
                    <a:lstStyle/>
                    <a:p>
                      <a:pPr marL="0" indent="0">
                        <a:buNone/>
                      </a:pPr>
                      <a:r>
                        <a:rPr lang="en-US" sz="1000" dirty="0">
                          <a:solidFill>
                            <a:srgbClr val="0B1F3A"/>
                          </a:solidFill>
                          <a:latin typeface="Courier New" pitchFamily="34" charset="0"/>
                          <a:ea typeface="Courier New" pitchFamily="34" charset="-122"/>
                          <a:cs typeface="Courier New" pitchFamily="34" charset="-120"/>
                        </a:rPr>
                        <a:t>delay_minutes</a:t>
                      </a:r>
                      <a:endParaRPr lang="en-US" sz="1000" dirty="0">
                        <a:latin typeface="Courier New" charset="0"/>
                        <a:ea typeface="Courier New" charset="0"/>
                        <a:cs typeface="Courier New"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Delay of the journey in minutes</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000" dirty="0">
                          <a:solidFill>
                            <a:srgbClr val="0B1F3A"/>
                          </a:solidFill>
                          <a:latin typeface="Courier New" pitchFamily="34" charset="0"/>
                          <a:ea typeface="Courier New" pitchFamily="34" charset="-122"/>
                          <a:cs typeface="Courier New" pitchFamily="34" charset="-120"/>
                        </a:rPr>
                        <a:t>is_delayed</a:t>
                      </a:r>
                      <a:endParaRPr lang="en-US" sz="1000" dirty="0">
                        <a:latin typeface="Courier New" charset="0"/>
                        <a:ea typeface="Courier New" charset="0"/>
                        <a:cs typeface="Courier New"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1 = delayed, 0 = not delayed</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bl>
          </a:graphicData>
        </a:graphic>
      </p:graphicFrame>
      <p:sp>
        <p:nvSpPr>
          <p:cNvPr id="15" name="Text 11"/>
          <p:cNvSpPr txBox="1"/>
          <p:nvPr/>
        </p:nvSpPr>
        <p:spPr>
          <a:xfrm>
            <a:off x="457200" y="4114800"/>
            <a:ext cx="4069080" cy="457200"/>
          </a:xfrm>
          <a:prstGeom prst="rect">
            <a:avLst/>
          </a:prstGeom>
          <a:noFill/>
          <a:ln/>
        </p:spPr>
        <p:txBody>
          <a:bodyPr wrap="square" lIns="0" tIns="0" rIns="0" bIns="0" rtlCol="0" anchor="t"/>
          <a:lstStyle/>
          <a:p>
            <a:pPr marL="0" indent="0">
              <a:buNone/>
            </a:pPr>
            <a:r>
              <a:rPr lang="en-US" sz="1000" i="1" dirty="0">
                <a:solidFill>
                  <a:schemeClr val="accent6"/>
                </a:solidFill>
                <a:latin typeface="Calibri" pitchFamily="34" charset="0"/>
                <a:ea typeface="Calibri" pitchFamily="34" charset="-122"/>
                <a:cs typeface="Calibri" pitchFamily="34" charset="-120"/>
              </a:rPr>
              <a:t>Synthetic, India-themed data. Source: Kaggle, Indian Railways: Predict Train Delay (ir_train.csv). Not official Indian Railways data.</a:t>
            </a:r>
            <a:endParaRPr lang="en-US" sz="1000" dirty="0"/>
          </a:p>
        </p:txBody>
      </p:sp>
      <p:graphicFrame>
        <p:nvGraphicFramePr>
          <p:cNvPr id="14" name="Table 1"/>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3346704"/>
        </p:xfrm>
        <a:graphic>
          <a:graphicData uri="http://schemas.openxmlformats.org/drawingml/2006/table">
            <a:tbl>
              <a:tblPr/>
              <a:tblGrid>
                <a:gridCol w="137160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6576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1F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Version</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1F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Role in the project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Hadoop HDFS</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3.2.4</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Stores the input railway CSV dataset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Java MapReduce</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Processes about 1.5M records into summary statistics</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Java JDK</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Compiles the MapReduce program</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Apache Cassandra</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3.11.0</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Stores the aggregated results in a table</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4"/>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Cassandra Python driver</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Connects Python to Cassandra</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Python</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3.14</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Integration and dashboard development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6"/>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Pandas</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Handles the tabular data shown in the dashboard</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Streamlit</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1.65.0</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tc>
                  <a:txBody>
                    <a:bodyPr/>
                    <a:lstStyle/>
                    <a:p>
                      <a:pPr marL="0" indent="0">
                        <a:buNone/>
                      </a:pPr>
                      <a:r>
                        <a:rPr lang="en-US" sz="1050" dirty="0">
                          <a:solidFill>
                            <a:srgbClr val="0B1F3A"/>
                          </a:solidFill>
                          <a:latin typeface="Calibri" pitchFamily="34" charset="0"/>
                          <a:ea typeface="Calibri" pitchFamily="34" charset="-122"/>
                          <a:cs typeface="Calibri" pitchFamily="34" charset="-120"/>
                        </a:rPr>
                        <a:t>Web-based dashboard</a:t>
                      </a:r>
                      <a:endParaRPr lang="en-US" sz="1050" dirty="0">
                        <a:latin typeface="Calibri" charset="0"/>
                        <a:ea typeface="Calibri" charset="0"/>
                        <a:cs typeface="Calibri" charset="0"/>
                      </a:endParaRPr>
                    </a:p>
                  </a:txBody>
                  <a:tcPr marL="73152" marR="73152"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2F5F8"/>
                    </a:solidFill>
                  </a:tcPr>
                </a:tc>
                <a:extLst>
                  <a:ext uri="{0D108BD9-81ED-4DB2-BD59-A6C34878D82A}">
                    <a16:rowId xmlns:a16="http://schemas.microsoft.com/office/drawing/2014/main" val="10008"/>
                  </a:ext>
                </a:extLst>
              </a:tr>
            </a:tbl>
          </a:graphicData>
        </a:graphic>
      </p:graphicFrame>
      <p:sp>
        <p:nvSpPr>
          <p:cNvPr id="17" name="Current station marker"/>
          <p:cNvSpPr/>
          <p:nvPr/>
        </p:nvSpPr>
        <p:spPr>
          <a:xfrm>
            <a:off x="2167128" y="4841748"/>
            <a:ext cx="182880" cy="182880"/>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4"/>
                </a:solidFill>
                <a:latin typeface="Courier New" pitchFamily="34" charset="0"/>
                <a:ea typeface="Courier New" pitchFamily="34" charset="-122"/>
                <a:cs typeface="Courier New" pitchFamily="34" charset="-120"/>
              </a:rPr>
              <a:t>PLATFORM 04  |  HADOOP ARCHITECTURE</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bg1"/>
                </a:solidFill>
                <a:latin typeface="Calibri" pitchFamily="34" charset="0"/>
                <a:ea typeface="Calibri" pitchFamily="34" charset="-122"/>
                <a:cs typeface="Calibri" pitchFamily="34" charset="-120"/>
              </a:rPr>
              <a:t>System Architecture</a:t>
            </a:r>
            <a:endParaRPr lang="en-US" sz="2400" dirty="0"/>
          </a:p>
        </p:txBody>
      </p:sp>
      <p:sp>
        <p:nvSpPr>
          <p:cNvPr id="5" name="Zone STORAGE"/>
          <p:cNvSpPr/>
          <p:nvPr/>
        </p:nvSpPr>
        <p:spPr>
          <a:xfrm>
            <a:off x="365760" y="1005840"/>
            <a:ext cx="2926080" cy="2103120"/>
          </a:xfrm>
          <a:prstGeom prst="roundRect">
            <a:avLst>
              <a:gd name="adj" fmla="val 3478"/>
            </a:avLst>
          </a:prstGeom>
          <a:solidFill>
            <a:schemeClr val="tx2">
              <a:alpha val="35000"/>
            </a:schemeClr>
          </a:solidFill>
          <a:ln w="12700">
            <a:solidFill>
              <a:schemeClr val="accent2"/>
            </a:solidFill>
            <a:prstDash val="dash"/>
          </a:ln>
        </p:spPr>
      </p:sp>
      <p:sp>
        <p:nvSpPr>
          <p:cNvPr id="6" name="Text 3"/>
          <p:cNvSpPr txBox="1"/>
          <p:nvPr/>
        </p:nvSpPr>
        <p:spPr>
          <a:xfrm>
            <a:off x="457200" y="1069848"/>
            <a:ext cx="2743200" cy="182880"/>
          </a:xfrm>
          <a:prstGeom prst="rect">
            <a:avLst/>
          </a:prstGeom>
          <a:noFill/>
          <a:ln/>
        </p:spPr>
        <p:txBody>
          <a:bodyPr wrap="square" lIns="0" tIns="0" rIns="0" bIns="0" rtlCol="0" anchor="t"/>
          <a:lstStyle/>
          <a:p>
            <a:pPr marL="0" indent="0">
              <a:buNone/>
            </a:pPr>
            <a:r>
              <a:rPr lang="en-US" sz="850" b="1" dirty="0">
                <a:solidFill>
                  <a:schemeClr val="accent4"/>
                </a:solidFill>
                <a:latin typeface="Courier New" pitchFamily="34" charset="0"/>
                <a:ea typeface="Courier New" pitchFamily="34" charset="-122"/>
                <a:cs typeface="Courier New" pitchFamily="34" charset="-120"/>
              </a:rPr>
              <a:t>STORAGE</a:t>
            </a:r>
            <a:endParaRPr lang="en-US" sz="850" dirty="0"/>
          </a:p>
        </p:txBody>
      </p:sp>
      <p:sp>
        <p:nvSpPr>
          <p:cNvPr id="7" name="Zone PROCESSING"/>
          <p:cNvSpPr/>
          <p:nvPr/>
        </p:nvSpPr>
        <p:spPr>
          <a:xfrm>
            <a:off x="3474720" y="1005840"/>
            <a:ext cx="2194560" cy="2103120"/>
          </a:xfrm>
          <a:prstGeom prst="roundRect">
            <a:avLst>
              <a:gd name="adj" fmla="val 3478"/>
            </a:avLst>
          </a:prstGeom>
          <a:solidFill>
            <a:schemeClr val="tx2">
              <a:alpha val="35000"/>
            </a:schemeClr>
          </a:solidFill>
          <a:ln w="12700">
            <a:solidFill>
              <a:schemeClr val="accent2"/>
            </a:solidFill>
            <a:prstDash val="dash"/>
          </a:ln>
        </p:spPr>
      </p:sp>
      <p:sp>
        <p:nvSpPr>
          <p:cNvPr id="8" name="Text 5"/>
          <p:cNvSpPr txBox="1"/>
          <p:nvPr/>
        </p:nvSpPr>
        <p:spPr>
          <a:xfrm>
            <a:off x="3566160" y="1069848"/>
            <a:ext cx="2011680" cy="182880"/>
          </a:xfrm>
          <a:prstGeom prst="rect">
            <a:avLst/>
          </a:prstGeom>
          <a:noFill/>
          <a:ln/>
        </p:spPr>
        <p:txBody>
          <a:bodyPr wrap="square" lIns="0" tIns="0" rIns="0" bIns="0" rtlCol="0" anchor="t"/>
          <a:lstStyle/>
          <a:p>
            <a:pPr marL="0" indent="0">
              <a:buNone/>
            </a:pPr>
            <a:r>
              <a:rPr lang="en-US" sz="850" b="1" dirty="0">
                <a:solidFill>
                  <a:schemeClr val="accent4"/>
                </a:solidFill>
                <a:latin typeface="Courier New" pitchFamily="34" charset="0"/>
                <a:ea typeface="Courier New" pitchFamily="34" charset="-122"/>
                <a:cs typeface="Courier New" pitchFamily="34" charset="-120"/>
              </a:rPr>
              <a:t>PROCESSING</a:t>
            </a:r>
            <a:endParaRPr lang="en-US" sz="850" dirty="0"/>
          </a:p>
        </p:txBody>
      </p:sp>
      <p:sp>
        <p:nvSpPr>
          <p:cNvPr id="9" name="Zone RESULTS STORAGE"/>
          <p:cNvSpPr/>
          <p:nvPr/>
        </p:nvSpPr>
        <p:spPr>
          <a:xfrm>
            <a:off x="5742432" y="1005840"/>
            <a:ext cx="1225296" cy="2103120"/>
          </a:xfrm>
          <a:prstGeom prst="roundRect">
            <a:avLst>
              <a:gd name="adj" fmla="val 5970"/>
            </a:avLst>
          </a:prstGeom>
          <a:solidFill>
            <a:schemeClr val="tx2">
              <a:alpha val="35000"/>
            </a:schemeClr>
          </a:solidFill>
          <a:ln w="12700">
            <a:solidFill>
              <a:schemeClr val="accent2"/>
            </a:solidFill>
            <a:prstDash val="dash"/>
          </a:ln>
        </p:spPr>
      </p:sp>
      <p:sp>
        <p:nvSpPr>
          <p:cNvPr id="10" name="Text 7"/>
          <p:cNvSpPr txBox="1"/>
          <p:nvPr/>
        </p:nvSpPr>
        <p:spPr>
          <a:xfrm>
            <a:off x="5833872" y="1069848"/>
            <a:ext cx="1042416" cy="182880"/>
          </a:xfrm>
          <a:prstGeom prst="rect">
            <a:avLst/>
          </a:prstGeom>
          <a:noFill/>
          <a:ln/>
        </p:spPr>
        <p:txBody>
          <a:bodyPr wrap="square" lIns="0" tIns="0" rIns="0" bIns="0" rtlCol="0" anchor="t"/>
          <a:lstStyle/>
          <a:p>
            <a:pPr marL="0" indent="0">
              <a:buNone/>
            </a:pPr>
            <a:r>
              <a:rPr lang="en-US" sz="850" b="1" dirty="0">
                <a:solidFill>
                  <a:schemeClr val="accent4"/>
                </a:solidFill>
                <a:latin typeface="Courier New" pitchFamily="34" charset="0"/>
                <a:ea typeface="Courier New" pitchFamily="34" charset="-122"/>
                <a:cs typeface="Courier New" pitchFamily="34" charset="-120"/>
              </a:rPr>
              <a:t>RESULTS STORAGE</a:t>
            </a:r>
            <a:endParaRPr lang="en-US" sz="850" dirty="0"/>
          </a:p>
        </p:txBody>
      </p:sp>
      <p:sp>
        <p:nvSpPr>
          <p:cNvPr id="11" name="Zone VISUALISATION"/>
          <p:cNvSpPr/>
          <p:nvPr/>
        </p:nvSpPr>
        <p:spPr>
          <a:xfrm>
            <a:off x="7223760" y="1005840"/>
            <a:ext cx="1371600" cy="2103120"/>
          </a:xfrm>
          <a:prstGeom prst="roundRect">
            <a:avLst>
              <a:gd name="adj" fmla="val 5333"/>
            </a:avLst>
          </a:prstGeom>
          <a:solidFill>
            <a:schemeClr val="tx2">
              <a:alpha val="35000"/>
            </a:schemeClr>
          </a:solidFill>
          <a:ln w="12700">
            <a:solidFill>
              <a:schemeClr val="accent2"/>
            </a:solidFill>
            <a:prstDash val="dash"/>
          </a:ln>
        </p:spPr>
      </p:sp>
      <p:sp>
        <p:nvSpPr>
          <p:cNvPr id="12" name="Text 9"/>
          <p:cNvSpPr txBox="1"/>
          <p:nvPr/>
        </p:nvSpPr>
        <p:spPr>
          <a:xfrm>
            <a:off x="7315200" y="1069848"/>
            <a:ext cx="1188720" cy="182880"/>
          </a:xfrm>
          <a:prstGeom prst="rect">
            <a:avLst/>
          </a:prstGeom>
          <a:noFill/>
          <a:ln/>
        </p:spPr>
        <p:txBody>
          <a:bodyPr wrap="square" lIns="0" tIns="0" rIns="0" bIns="0" rtlCol="0" anchor="t"/>
          <a:lstStyle/>
          <a:p>
            <a:pPr marL="0" indent="0">
              <a:buNone/>
            </a:pPr>
            <a:r>
              <a:rPr lang="en-US" sz="850" b="1" dirty="0">
                <a:solidFill>
                  <a:schemeClr val="accent4"/>
                </a:solidFill>
                <a:latin typeface="Courier New" pitchFamily="34" charset="0"/>
                <a:ea typeface="Courier New" pitchFamily="34" charset="-122"/>
                <a:cs typeface="Courier New" pitchFamily="34" charset="-120"/>
              </a:rPr>
              <a:t>VISUALISATION</a:t>
            </a:r>
            <a:endParaRPr lang="en-US" sz="850" dirty="0"/>
          </a:p>
        </p:txBody>
      </p:sp>
      <p:sp>
        <p:nvSpPr>
          <p:cNvPr id="13" name="Route line"/>
          <p:cNvSpPr/>
          <p:nvPr/>
        </p:nvSpPr>
        <p:spPr>
          <a:xfrm>
            <a:off x="1051560" y="1783080"/>
            <a:ext cx="6858000" cy="0"/>
          </a:xfrm>
          <a:prstGeom prst="line">
            <a:avLst/>
          </a:prstGeom>
          <a:noFill/>
          <a:ln w="44450">
            <a:solidFill>
              <a:schemeClr val="accent2"/>
            </a:solidFill>
            <a:prstDash val="solid"/>
          </a:ln>
        </p:spPr>
      </p:sp>
      <p:sp>
        <p:nvSpPr>
          <p:cNvPr id="14" name="Text 11"/>
          <p:cNvSpPr txBox="1"/>
          <p:nvPr/>
        </p:nvSpPr>
        <p:spPr>
          <a:xfrm>
            <a:off x="1719072" y="1673352"/>
            <a:ext cx="219456" cy="219456"/>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15" name="Text 12"/>
          <p:cNvSpPr txBox="1"/>
          <p:nvPr/>
        </p:nvSpPr>
        <p:spPr>
          <a:xfrm>
            <a:off x="3273552" y="1673352"/>
            <a:ext cx="219456" cy="219456"/>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6" name="Text 13"/>
          <p:cNvSpPr txBox="1"/>
          <p:nvPr/>
        </p:nvSpPr>
        <p:spPr>
          <a:xfrm>
            <a:off x="4645152" y="1673352"/>
            <a:ext cx="219456" cy="219456"/>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7" name="Text 14"/>
          <p:cNvSpPr txBox="1"/>
          <p:nvPr/>
        </p:nvSpPr>
        <p:spPr>
          <a:xfrm>
            <a:off x="5650992" y="1673352"/>
            <a:ext cx="219456" cy="219456"/>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18" name="Text 15"/>
          <p:cNvSpPr txBox="1"/>
          <p:nvPr/>
        </p:nvSpPr>
        <p:spPr>
          <a:xfrm>
            <a:off x="7022592" y="1673352"/>
            <a:ext cx="219456" cy="219456"/>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19" name="Shape 16"/>
          <p:cNvSpPr/>
          <p:nvPr/>
        </p:nvSpPr>
        <p:spPr>
          <a:xfrm>
            <a:off x="5120640" y="1645920"/>
            <a:ext cx="274320" cy="274320"/>
          </a:xfrm>
          <a:prstGeom prst="ellipse">
            <a:avLst/>
          </a:prstGeom>
          <a:solidFill>
            <a:schemeClr val="accent4"/>
          </a:solidFill>
          <a:ln w="25400">
            <a:solidFill>
              <a:schemeClr val="tx1"/>
            </a:solidFill>
            <a:prstDash val="solid"/>
          </a:ln>
        </p:spPr>
      </p:sp>
      <p:sp>
        <p:nvSpPr>
          <p:cNvPr id="20" name="Text 17"/>
          <p:cNvSpPr txBox="1"/>
          <p:nvPr/>
        </p:nvSpPr>
        <p:spPr>
          <a:xfrm>
            <a:off x="4773168" y="2103120"/>
            <a:ext cx="969264" cy="868680"/>
          </a:xfrm>
          <a:prstGeom prst="rect">
            <a:avLst/>
          </a:prstGeom>
          <a:noFill/>
          <a:ln/>
        </p:spPr>
        <p:txBody>
          <a:bodyPr wrap="square" lIns="0" tIns="0" rIns="0" bIns="0" rtlCol="0" anchor="t"/>
          <a:lstStyle/>
          <a:p>
            <a:pPr marL="0" indent="0" algn="ctr">
              <a:buNone/>
            </a:pPr>
            <a:r>
              <a:rPr lang="en-US" sz="1000" b="1" dirty="0">
                <a:solidFill>
                  <a:schemeClr val="bg1"/>
                </a:solidFill>
                <a:latin typeface="Calibri" pitchFamily="34" charset="0"/>
                <a:ea typeface="Calibri" pitchFamily="34" charset="-122"/>
                <a:cs typeface="Calibri" pitchFamily="34" charset="-120"/>
              </a:rPr>
              <a:t>Aggregated results</a:t>
            </a:r>
            <a:endParaRPr lang="en-US" sz="1150" dirty="0"/>
          </a:p>
          <a:p>
            <a:pPr marL="0" indent="0" algn="ctr">
              <a:buNone/>
            </a:pPr>
            <a:r>
              <a:rPr lang="en-US" sz="850" dirty="0">
                <a:solidFill>
                  <a:schemeClr val="accent5"/>
                </a:solidFill>
                <a:latin typeface="Courier New" pitchFamily="34" charset="0"/>
                <a:ea typeface="Courier New" pitchFamily="34" charset="-122"/>
                <a:cs typeface="Courier New" pitchFamily="34" charset="-120"/>
              </a:rPr>
              <a:t>part-r-00000</a:t>
            </a:r>
            <a:endParaRPr lang="en-US" sz="1150" dirty="0"/>
          </a:p>
          <a:p>
            <a:pPr marL="0" indent="0" algn="ctr">
              <a:buNone/>
            </a:pPr>
            <a:r>
              <a:rPr lang="en-US" sz="1050" b="1" dirty="0">
                <a:solidFill>
                  <a:schemeClr val="accent4"/>
                </a:solidFill>
                <a:latin typeface="Calibri" pitchFamily="34" charset="0"/>
                <a:ea typeface="Calibri" pitchFamily="34" charset="-122"/>
                <a:cs typeface="Calibri" pitchFamily="34" charset="-120"/>
              </a:rPr>
              <a:t>70 records</a:t>
            </a:r>
            <a:endParaRPr lang="en-US" sz="1150" dirty="0"/>
          </a:p>
        </p:txBody>
      </p:sp>
      <p:sp>
        <p:nvSpPr>
          <p:cNvPr id="21" name="Shape 18"/>
          <p:cNvSpPr/>
          <p:nvPr/>
        </p:nvSpPr>
        <p:spPr>
          <a:xfrm>
            <a:off x="804672" y="1536192"/>
            <a:ext cx="493776" cy="493776"/>
          </a:xfrm>
          <a:prstGeom prst="ellipse">
            <a:avLst/>
          </a:prstGeom>
          <a:solidFill>
            <a:schemeClr val="tx1"/>
          </a:solidFill>
          <a:ln w="31750">
            <a:solidFill>
              <a:schemeClr val="accent2"/>
            </a:solidFill>
            <a:prstDash val="solid"/>
          </a:ln>
        </p:spPr>
      </p:sp>
      <p:pic>
        <p:nvPicPr>
          <p:cNvPr id="22" name="Image 0" descr="Dataset icon"/>
          <p:cNvPicPr>
            <a:picLocks noChangeAspect="1"/>
          </p:cNvPicPr>
          <p:nvPr/>
        </p:nvPicPr>
        <p:blipFill>
          <a:blip r:embed="rId3"/>
          <a:stretch>
            <a:fillRect/>
          </a:stretch>
        </p:blipFill>
        <p:spPr>
          <a:xfrm>
            <a:off x="914400" y="1645920"/>
            <a:ext cx="274320" cy="274320"/>
          </a:xfrm>
          <a:prstGeom prst="rect">
            <a:avLst/>
          </a:prstGeom>
        </p:spPr>
      </p:pic>
      <p:sp>
        <p:nvSpPr>
          <p:cNvPr id="23" name="Shape 19"/>
          <p:cNvSpPr/>
          <p:nvPr/>
        </p:nvSpPr>
        <p:spPr>
          <a:xfrm>
            <a:off x="475488" y="2103120"/>
            <a:ext cx="1152144" cy="914400"/>
          </a:xfrm>
          <a:prstGeom prst="roundRect">
            <a:avLst>
              <a:gd name="adj" fmla="val 6000"/>
            </a:avLst>
          </a:prstGeom>
          <a:solidFill>
            <a:schemeClr val="tx2"/>
          </a:solidFill>
          <a:ln w="9525">
            <a:solidFill>
              <a:schemeClr val="accent6"/>
            </a:solidFill>
            <a:prstDash val="solid"/>
          </a:ln>
        </p:spPr>
      </p:sp>
      <p:sp>
        <p:nvSpPr>
          <p:cNvPr id="24" name="Text 20"/>
          <p:cNvSpPr txBox="1"/>
          <p:nvPr/>
        </p:nvSpPr>
        <p:spPr>
          <a:xfrm>
            <a:off x="521208" y="2148840"/>
            <a:ext cx="1060704" cy="365760"/>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Dataset</a:t>
            </a:r>
            <a:endParaRPr lang="en-US" sz="1100" dirty="0"/>
          </a:p>
        </p:txBody>
      </p:sp>
      <p:sp>
        <p:nvSpPr>
          <p:cNvPr id="25" name="Text 21"/>
          <p:cNvSpPr txBox="1"/>
          <p:nvPr/>
        </p:nvSpPr>
        <p:spPr>
          <a:xfrm>
            <a:off x="521208" y="2523744"/>
            <a:ext cx="1060704" cy="182880"/>
          </a:xfrm>
          <a:prstGeom prst="rect">
            <a:avLst/>
          </a:prstGeom>
          <a:noFill/>
          <a:ln/>
        </p:spPr>
        <p:txBody>
          <a:bodyPr wrap="square" lIns="0" tIns="0" rIns="0" bIns="0" rtlCol="0" anchor="t"/>
          <a:lstStyle/>
          <a:p>
            <a:pPr marL="0" indent="0" algn="ctr">
              <a:buNone/>
            </a:pPr>
            <a:r>
              <a:rPr lang="en-US" sz="850" dirty="0">
                <a:solidFill>
                  <a:schemeClr val="accent5"/>
                </a:solidFill>
                <a:latin typeface="Courier New" pitchFamily="34" charset="0"/>
                <a:ea typeface="Courier New" pitchFamily="34" charset="-122"/>
                <a:cs typeface="Courier New" pitchFamily="34" charset="-120"/>
              </a:rPr>
              <a:t>ir_train.csv</a:t>
            </a:r>
            <a:endParaRPr lang="en-US" sz="850" dirty="0"/>
          </a:p>
        </p:txBody>
      </p:sp>
      <p:sp>
        <p:nvSpPr>
          <p:cNvPr id="26" name="Text 22"/>
          <p:cNvSpPr txBox="1"/>
          <p:nvPr/>
        </p:nvSpPr>
        <p:spPr>
          <a:xfrm>
            <a:off x="521208" y="2724912"/>
            <a:ext cx="1060704" cy="201168"/>
          </a:xfrm>
          <a:prstGeom prst="rect">
            <a:avLst/>
          </a:prstGeom>
          <a:noFill/>
          <a:ln/>
        </p:spPr>
        <p:txBody>
          <a:bodyPr wrap="square" lIns="0" tIns="0" rIns="0" bIns="0" rtlCol="0" anchor="t"/>
          <a:lstStyle/>
          <a:p>
            <a:pPr marL="0" indent="0" algn="ctr">
              <a:buNone/>
            </a:pPr>
            <a:r>
              <a:rPr lang="en-US" sz="1100" b="1" dirty="0">
                <a:solidFill>
                  <a:schemeClr val="accent4"/>
                </a:solidFill>
                <a:latin typeface="Calibri" pitchFamily="34" charset="0"/>
                <a:ea typeface="Calibri" pitchFamily="34" charset="-122"/>
                <a:cs typeface="Calibri" pitchFamily="34" charset="-120"/>
              </a:rPr>
              <a:t>1.5M rows</a:t>
            </a:r>
            <a:endParaRPr lang="en-US" sz="1100" dirty="0"/>
          </a:p>
        </p:txBody>
      </p:sp>
      <p:sp>
        <p:nvSpPr>
          <p:cNvPr id="27" name="Shape 23"/>
          <p:cNvSpPr/>
          <p:nvPr/>
        </p:nvSpPr>
        <p:spPr>
          <a:xfrm>
            <a:off x="2359152" y="1536192"/>
            <a:ext cx="493776" cy="493776"/>
          </a:xfrm>
          <a:prstGeom prst="ellipse">
            <a:avLst/>
          </a:prstGeom>
          <a:solidFill>
            <a:schemeClr val="tx1"/>
          </a:solidFill>
          <a:ln w="31750">
            <a:solidFill>
              <a:schemeClr val="accent2"/>
            </a:solidFill>
            <a:prstDash val="solid"/>
          </a:ln>
        </p:spPr>
      </p:sp>
      <p:pic>
        <p:nvPicPr>
          <p:cNvPr id="28" name="Image 1" descr="Hadoop HDFS icon"/>
          <p:cNvPicPr>
            <a:picLocks noChangeAspect="1"/>
          </p:cNvPicPr>
          <p:nvPr/>
        </p:nvPicPr>
        <p:blipFill>
          <a:blip r:embed="rId4"/>
          <a:stretch>
            <a:fillRect/>
          </a:stretch>
        </p:blipFill>
        <p:spPr>
          <a:xfrm>
            <a:off x="2468880" y="1645920"/>
            <a:ext cx="274320" cy="274320"/>
          </a:xfrm>
          <a:prstGeom prst="rect">
            <a:avLst/>
          </a:prstGeom>
        </p:spPr>
      </p:pic>
      <p:sp>
        <p:nvSpPr>
          <p:cNvPr id="29" name="Shape 24"/>
          <p:cNvSpPr/>
          <p:nvPr/>
        </p:nvSpPr>
        <p:spPr>
          <a:xfrm>
            <a:off x="2029968" y="2103120"/>
            <a:ext cx="1152144" cy="914400"/>
          </a:xfrm>
          <a:prstGeom prst="roundRect">
            <a:avLst>
              <a:gd name="adj" fmla="val 6000"/>
            </a:avLst>
          </a:prstGeom>
          <a:solidFill>
            <a:schemeClr val="tx2"/>
          </a:solidFill>
          <a:ln w="9525">
            <a:solidFill>
              <a:schemeClr val="accent6"/>
            </a:solidFill>
            <a:prstDash val="solid"/>
          </a:ln>
        </p:spPr>
      </p:sp>
      <p:sp>
        <p:nvSpPr>
          <p:cNvPr id="30" name="Text 25"/>
          <p:cNvSpPr txBox="1"/>
          <p:nvPr/>
        </p:nvSpPr>
        <p:spPr>
          <a:xfrm>
            <a:off x="2075688" y="2148840"/>
            <a:ext cx="1060704" cy="365760"/>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Hadoop HDFS</a:t>
            </a:r>
            <a:endParaRPr lang="en-US" sz="1100" dirty="0"/>
          </a:p>
        </p:txBody>
      </p:sp>
      <p:sp>
        <p:nvSpPr>
          <p:cNvPr id="31" name="Text 26"/>
          <p:cNvSpPr txBox="1"/>
          <p:nvPr/>
        </p:nvSpPr>
        <p:spPr>
          <a:xfrm>
            <a:off x="2075688" y="2523744"/>
            <a:ext cx="1060704"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stores the CSV</a:t>
            </a:r>
            <a:endParaRPr lang="en-US" sz="1000" dirty="0"/>
          </a:p>
        </p:txBody>
      </p:sp>
      <p:sp>
        <p:nvSpPr>
          <p:cNvPr id="32" name="Text 27"/>
          <p:cNvSpPr txBox="1"/>
          <p:nvPr/>
        </p:nvSpPr>
        <p:spPr>
          <a:xfrm>
            <a:off x="2075688" y="2724912"/>
            <a:ext cx="1060704" cy="201168"/>
          </a:xfrm>
          <a:prstGeom prst="rect">
            <a:avLst/>
          </a:prstGeom>
          <a:noFill/>
          <a:ln/>
        </p:spPr>
        <p:txBody>
          <a:bodyPr wrap="square" lIns="0" tIns="0" rIns="0" bIns="0" rtlCol="0" anchor="t"/>
          <a:lstStyle/>
          <a:p>
            <a:pPr marL="0" indent="0" algn="ctr">
              <a:buNone/>
            </a:pPr>
            <a:r>
              <a:rPr lang="en-US" sz="1100" b="1" dirty="0">
                <a:solidFill>
                  <a:schemeClr val="accent4"/>
                </a:solidFill>
                <a:latin typeface="Calibri" pitchFamily="34" charset="0"/>
                <a:ea typeface="Calibri" pitchFamily="34" charset="-122"/>
                <a:cs typeface="Calibri" pitchFamily="34" charset="-120"/>
              </a:rPr>
              <a:t>321.5 MB</a:t>
            </a:r>
            <a:endParaRPr lang="en-US" sz="1100" dirty="0"/>
          </a:p>
        </p:txBody>
      </p:sp>
      <p:sp>
        <p:nvSpPr>
          <p:cNvPr id="33" name="Shape 28"/>
          <p:cNvSpPr/>
          <p:nvPr/>
        </p:nvSpPr>
        <p:spPr>
          <a:xfrm>
            <a:off x="3913632" y="1536192"/>
            <a:ext cx="493776" cy="493776"/>
          </a:xfrm>
          <a:prstGeom prst="ellipse">
            <a:avLst/>
          </a:prstGeom>
          <a:solidFill>
            <a:schemeClr val="tx1"/>
          </a:solidFill>
          <a:ln w="31750">
            <a:solidFill>
              <a:schemeClr val="accent2"/>
            </a:solidFill>
            <a:prstDash val="solid"/>
          </a:ln>
        </p:spPr>
      </p:sp>
      <p:pic>
        <p:nvPicPr>
          <p:cNvPr id="34" name="Image 2" descr="Java MapReduce icon"/>
          <p:cNvPicPr>
            <a:picLocks noChangeAspect="1"/>
          </p:cNvPicPr>
          <p:nvPr/>
        </p:nvPicPr>
        <p:blipFill>
          <a:blip r:embed="rId5"/>
          <a:stretch>
            <a:fillRect/>
          </a:stretch>
        </p:blipFill>
        <p:spPr>
          <a:xfrm>
            <a:off x="4023360" y="1645920"/>
            <a:ext cx="274320" cy="274320"/>
          </a:xfrm>
          <a:prstGeom prst="rect">
            <a:avLst/>
          </a:prstGeom>
        </p:spPr>
      </p:pic>
      <p:sp>
        <p:nvSpPr>
          <p:cNvPr id="35" name="Shape 29"/>
          <p:cNvSpPr/>
          <p:nvPr/>
        </p:nvSpPr>
        <p:spPr>
          <a:xfrm>
            <a:off x="3584448" y="2103120"/>
            <a:ext cx="1152144" cy="914400"/>
          </a:xfrm>
          <a:prstGeom prst="roundRect">
            <a:avLst>
              <a:gd name="adj" fmla="val 6000"/>
            </a:avLst>
          </a:prstGeom>
          <a:solidFill>
            <a:schemeClr val="tx2"/>
          </a:solidFill>
          <a:ln w="9525">
            <a:solidFill>
              <a:schemeClr val="accent6"/>
            </a:solidFill>
            <a:prstDash val="solid"/>
          </a:ln>
        </p:spPr>
      </p:sp>
      <p:sp>
        <p:nvSpPr>
          <p:cNvPr id="36" name="Text 30"/>
          <p:cNvSpPr txBox="1"/>
          <p:nvPr/>
        </p:nvSpPr>
        <p:spPr>
          <a:xfrm>
            <a:off x="3630168" y="2148840"/>
            <a:ext cx="1060704" cy="365760"/>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Java MapReduce</a:t>
            </a:r>
            <a:endParaRPr lang="en-US" sz="1100" dirty="0"/>
          </a:p>
        </p:txBody>
      </p:sp>
      <p:sp>
        <p:nvSpPr>
          <p:cNvPr id="37" name="Text 31"/>
          <p:cNvSpPr txBox="1"/>
          <p:nvPr/>
        </p:nvSpPr>
        <p:spPr>
          <a:xfrm>
            <a:off x="3630168" y="2523744"/>
            <a:ext cx="1060704"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processes the data</a:t>
            </a:r>
            <a:endParaRPr lang="en-US" sz="1000" dirty="0"/>
          </a:p>
        </p:txBody>
      </p:sp>
      <p:sp>
        <p:nvSpPr>
          <p:cNvPr id="38" name="Text 32"/>
          <p:cNvSpPr txBox="1"/>
          <p:nvPr/>
        </p:nvSpPr>
        <p:spPr>
          <a:xfrm>
            <a:off x="3630168" y="2724912"/>
            <a:ext cx="1060704" cy="201168"/>
          </a:xfrm>
          <a:prstGeom prst="rect">
            <a:avLst/>
          </a:prstGeom>
          <a:noFill/>
          <a:ln/>
        </p:spPr>
        <p:txBody>
          <a:bodyPr wrap="square" lIns="0" tIns="0" rIns="0" bIns="0" rtlCol="0" anchor="t"/>
          <a:lstStyle/>
          <a:p>
            <a:pPr marL="0" indent="0" algn="ctr">
              <a:buNone/>
            </a:pPr>
            <a:r>
              <a:rPr lang="en-US" sz="1100" b="1" dirty="0">
                <a:solidFill>
                  <a:schemeClr val="accent4"/>
                </a:solidFill>
                <a:latin typeface="Calibri" pitchFamily="34" charset="0"/>
                <a:ea typeface="Calibri" pitchFamily="34" charset="-122"/>
                <a:cs typeface="Calibri" pitchFamily="34" charset="-120"/>
              </a:rPr>
              <a:t>1.5M → 70</a:t>
            </a:r>
            <a:endParaRPr lang="en-US" sz="1100" dirty="0"/>
          </a:p>
        </p:txBody>
      </p:sp>
      <p:sp>
        <p:nvSpPr>
          <p:cNvPr id="39" name="Shape 33"/>
          <p:cNvSpPr/>
          <p:nvPr/>
        </p:nvSpPr>
        <p:spPr>
          <a:xfrm>
            <a:off x="6108192" y="1536192"/>
            <a:ext cx="493776" cy="493776"/>
          </a:xfrm>
          <a:prstGeom prst="ellipse">
            <a:avLst/>
          </a:prstGeom>
          <a:solidFill>
            <a:schemeClr val="tx1"/>
          </a:solidFill>
          <a:ln w="31750">
            <a:solidFill>
              <a:schemeClr val="accent2"/>
            </a:solidFill>
            <a:prstDash val="solid"/>
          </a:ln>
        </p:spPr>
      </p:sp>
      <p:pic>
        <p:nvPicPr>
          <p:cNvPr id="40" name="Image 3" descr="Cassandra icon"/>
          <p:cNvPicPr>
            <a:picLocks noChangeAspect="1"/>
          </p:cNvPicPr>
          <p:nvPr/>
        </p:nvPicPr>
        <p:blipFill>
          <a:blip r:embed="rId6"/>
          <a:stretch>
            <a:fillRect/>
          </a:stretch>
        </p:blipFill>
        <p:spPr>
          <a:xfrm>
            <a:off x="6217920" y="1645920"/>
            <a:ext cx="274320" cy="274320"/>
          </a:xfrm>
          <a:prstGeom prst="rect">
            <a:avLst/>
          </a:prstGeom>
        </p:spPr>
      </p:pic>
      <p:sp>
        <p:nvSpPr>
          <p:cNvPr id="41" name="Shape 34"/>
          <p:cNvSpPr/>
          <p:nvPr/>
        </p:nvSpPr>
        <p:spPr>
          <a:xfrm>
            <a:off x="5779008" y="2103120"/>
            <a:ext cx="1152144" cy="914400"/>
          </a:xfrm>
          <a:prstGeom prst="roundRect">
            <a:avLst>
              <a:gd name="adj" fmla="val 6000"/>
            </a:avLst>
          </a:prstGeom>
          <a:solidFill>
            <a:schemeClr val="tx2"/>
          </a:solidFill>
          <a:ln w="9525">
            <a:solidFill>
              <a:schemeClr val="accent6"/>
            </a:solidFill>
            <a:prstDash val="solid"/>
          </a:ln>
        </p:spPr>
      </p:sp>
      <p:sp>
        <p:nvSpPr>
          <p:cNvPr id="42" name="Text 35"/>
          <p:cNvSpPr txBox="1"/>
          <p:nvPr/>
        </p:nvSpPr>
        <p:spPr>
          <a:xfrm>
            <a:off x="5824728" y="2148840"/>
            <a:ext cx="1060704" cy="365760"/>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Cassandra</a:t>
            </a:r>
            <a:endParaRPr lang="en-US" sz="1100" dirty="0"/>
          </a:p>
        </p:txBody>
      </p:sp>
      <p:sp>
        <p:nvSpPr>
          <p:cNvPr id="43" name="Text 36"/>
          <p:cNvSpPr txBox="1"/>
          <p:nvPr/>
        </p:nvSpPr>
        <p:spPr>
          <a:xfrm>
            <a:off x="5824728" y="2523744"/>
            <a:ext cx="1060704" cy="182880"/>
          </a:xfrm>
          <a:prstGeom prst="rect">
            <a:avLst/>
          </a:prstGeom>
          <a:noFill/>
          <a:ln/>
        </p:spPr>
        <p:txBody>
          <a:bodyPr wrap="square" lIns="0" tIns="0" rIns="0" bIns="0" rtlCol="0" anchor="t"/>
          <a:lstStyle/>
          <a:p>
            <a:pPr marL="0" indent="0" algn="ctr">
              <a:buNone/>
            </a:pPr>
            <a:r>
              <a:rPr lang="en-US" sz="850" dirty="0">
                <a:solidFill>
                  <a:schemeClr val="accent5"/>
                </a:solidFill>
                <a:latin typeface="Courier New" pitchFamily="34" charset="0"/>
                <a:ea typeface="Courier New" pitchFamily="34" charset="-122"/>
                <a:cs typeface="Courier New" pitchFamily="34" charset="-120"/>
              </a:rPr>
              <a:t>delay_summary</a:t>
            </a:r>
            <a:endParaRPr lang="en-US" sz="850" dirty="0"/>
          </a:p>
        </p:txBody>
      </p:sp>
      <p:sp>
        <p:nvSpPr>
          <p:cNvPr id="44" name="Text 37"/>
          <p:cNvSpPr txBox="1"/>
          <p:nvPr/>
        </p:nvSpPr>
        <p:spPr>
          <a:xfrm>
            <a:off x="5824728" y="2724912"/>
            <a:ext cx="1060704" cy="201168"/>
          </a:xfrm>
          <a:prstGeom prst="rect">
            <a:avLst/>
          </a:prstGeom>
          <a:noFill/>
          <a:ln/>
        </p:spPr>
        <p:txBody>
          <a:bodyPr wrap="square" lIns="0" tIns="0" rIns="0" bIns="0" rtlCol="0" anchor="t"/>
          <a:lstStyle/>
          <a:p>
            <a:pPr marL="0" indent="0" algn="ctr">
              <a:buNone/>
            </a:pPr>
            <a:r>
              <a:rPr lang="en-US" sz="1100" b="1" dirty="0">
                <a:solidFill>
                  <a:schemeClr val="accent4"/>
                </a:solidFill>
                <a:latin typeface="Calibri" pitchFamily="34" charset="0"/>
                <a:ea typeface="Calibri" pitchFamily="34" charset="-122"/>
                <a:cs typeface="Calibri" pitchFamily="34" charset="-120"/>
              </a:rPr>
              <a:t>70 rows</a:t>
            </a:r>
            <a:endParaRPr lang="en-US" sz="1100" dirty="0"/>
          </a:p>
        </p:txBody>
      </p:sp>
      <p:sp>
        <p:nvSpPr>
          <p:cNvPr id="45" name="Shape 38"/>
          <p:cNvSpPr/>
          <p:nvPr/>
        </p:nvSpPr>
        <p:spPr>
          <a:xfrm>
            <a:off x="7662672" y="1536192"/>
            <a:ext cx="493776" cy="493776"/>
          </a:xfrm>
          <a:prstGeom prst="ellipse">
            <a:avLst/>
          </a:prstGeom>
          <a:solidFill>
            <a:schemeClr val="tx1"/>
          </a:solidFill>
          <a:ln w="31750">
            <a:solidFill>
              <a:schemeClr val="accent2"/>
            </a:solidFill>
            <a:prstDash val="solid"/>
          </a:ln>
        </p:spPr>
      </p:sp>
      <p:pic>
        <p:nvPicPr>
          <p:cNvPr id="46" name="Image 4" descr="Streamlit Dashboard icon"/>
          <p:cNvPicPr>
            <a:picLocks noChangeAspect="1"/>
          </p:cNvPicPr>
          <p:nvPr/>
        </p:nvPicPr>
        <p:blipFill>
          <a:blip r:embed="rId7"/>
          <a:stretch>
            <a:fillRect/>
          </a:stretch>
        </p:blipFill>
        <p:spPr>
          <a:xfrm>
            <a:off x="7772400" y="1645920"/>
            <a:ext cx="274320" cy="274320"/>
          </a:xfrm>
          <a:prstGeom prst="rect">
            <a:avLst/>
          </a:prstGeom>
        </p:spPr>
      </p:pic>
      <p:sp>
        <p:nvSpPr>
          <p:cNvPr id="47" name="Shape 39"/>
          <p:cNvSpPr/>
          <p:nvPr/>
        </p:nvSpPr>
        <p:spPr>
          <a:xfrm>
            <a:off x="7333488" y="2103120"/>
            <a:ext cx="1152144" cy="914400"/>
          </a:xfrm>
          <a:prstGeom prst="roundRect">
            <a:avLst>
              <a:gd name="adj" fmla="val 6000"/>
            </a:avLst>
          </a:prstGeom>
          <a:solidFill>
            <a:schemeClr val="tx2"/>
          </a:solidFill>
          <a:ln w="9525">
            <a:solidFill>
              <a:schemeClr val="accent6"/>
            </a:solidFill>
            <a:prstDash val="solid"/>
          </a:ln>
        </p:spPr>
      </p:sp>
      <p:sp>
        <p:nvSpPr>
          <p:cNvPr id="48" name="Text 40"/>
          <p:cNvSpPr txBox="1"/>
          <p:nvPr/>
        </p:nvSpPr>
        <p:spPr>
          <a:xfrm>
            <a:off x="7379208" y="2148840"/>
            <a:ext cx="1060704" cy="365760"/>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Streamlit Dashboard</a:t>
            </a:r>
            <a:endParaRPr lang="en-US" sz="1100" dirty="0"/>
          </a:p>
        </p:txBody>
      </p:sp>
      <p:sp>
        <p:nvSpPr>
          <p:cNvPr id="49" name="Text 41"/>
          <p:cNvSpPr txBox="1"/>
          <p:nvPr/>
        </p:nvSpPr>
        <p:spPr>
          <a:xfrm>
            <a:off x="7379208" y="2523744"/>
            <a:ext cx="1060704" cy="182880"/>
          </a:xfrm>
          <a:prstGeom prst="rect">
            <a:avLst/>
          </a:prstGeom>
          <a:noFill/>
          <a:ln/>
        </p:spPr>
        <p:txBody>
          <a:bodyPr wrap="square" lIns="0" tIns="0" rIns="0" bIns="0" rtlCol="0" anchor="t"/>
          <a:lstStyle/>
          <a:p>
            <a:pPr marL="0" indent="0" algn="ctr">
              <a:buNone/>
            </a:pPr>
            <a:r>
              <a:rPr lang="en-US" sz="850" dirty="0">
                <a:solidFill>
                  <a:schemeClr val="accent5"/>
                </a:solidFill>
                <a:latin typeface="Courier New" pitchFamily="34" charset="0"/>
                <a:ea typeface="Courier New" pitchFamily="34" charset="-122"/>
                <a:cs typeface="Courier New" pitchFamily="34" charset="-120"/>
              </a:rPr>
              <a:t>app.py</a:t>
            </a:r>
            <a:endParaRPr lang="en-US" sz="850" dirty="0"/>
          </a:p>
        </p:txBody>
      </p:sp>
      <p:sp>
        <p:nvSpPr>
          <p:cNvPr id="50" name="Text 42"/>
          <p:cNvSpPr txBox="1"/>
          <p:nvPr/>
        </p:nvSpPr>
        <p:spPr>
          <a:xfrm>
            <a:off x="7379208" y="2724912"/>
            <a:ext cx="1060704" cy="201168"/>
          </a:xfrm>
          <a:prstGeom prst="rect">
            <a:avLst/>
          </a:prstGeom>
          <a:noFill/>
          <a:ln/>
        </p:spPr>
        <p:txBody>
          <a:bodyPr wrap="square" lIns="0" tIns="0" rIns="0" bIns="0" rtlCol="0" anchor="t"/>
          <a:lstStyle/>
          <a:p>
            <a:pPr marL="0" indent="0" algn="ctr">
              <a:buNone/>
            </a:pPr>
            <a:r>
              <a:rPr lang="en-US" sz="1100" b="1" dirty="0">
                <a:solidFill>
                  <a:schemeClr val="accent4"/>
                </a:solidFill>
                <a:latin typeface="Calibri" pitchFamily="34" charset="0"/>
                <a:ea typeface="Calibri" pitchFamily="34" charset="-122"/>
                <a:cs typeface="Calibri" pitchFamily="34" charset="-120"/>
              </a:rPr>
              <a:t>4 tabs</a:t>
            </a:r>
            <a:endParaRPr lang="en-US" sz="1100" dirty="0"/>
          </a:p>
        </p:txBody>
      </p:sp>
      <p:sp>
        <p:nvSpPr>
          <p:cNvPr id="51" name="Text 43"/>
          <p:cNvSpPr txBox="1"/>
          <p:nvPr/>
        </p:nvSpPr>
        <p:spPr>
          <a:xfrm>
            <a:off x="457200" y="3200400"/>
            <a:ext cx="5486400" cy="182880"/>
          </a:xfrm>
          <a:prstGeom prst="rect">
            <a:avLst/>
          </a:prstGeom>
          <a:noFill/>
          <a:ln/>
        </p:spPr>
        <p:txBody>
          <a:bodyPr wrap="square" lIns="0" tIns="0" rIns="0" bIns="0" rtlCol="0" anchor="t"/>
          <a:lstStyle/>
          <a:p>
            <a:pPr marL="0" indent="0">
              <a:buNone/>
            </a:pPr>
            <a:r>
              <a:rPr lang="en-US" sz="950" b="1" kern="0" spc="150" dirty="0">
                <a:solidFill>
                  <a:schemeClr val="accent4"/>
                </a:solidFill>
                <a:latin typeface="Courier New" pitchFamily="34" charset="0"/>
                <a:ea typeface="Courier New" pitchFamily="34" charset="-122"/>
                <a:cs typeface="Courier New" pitchFamily="34" charset="-120"/>
              </a:rPr>
              <a:t>WHAT HAPPENS AT EACH ARROW</a:t>
            </a:r>
            <a:endParaRPr lang="en-US" sz="950" dirty="0"/>
          </a:p>
        </p:txBody>
      </p:sp>
      <p:sp>
        <p:nvSpPr>
          <p:cNvPr id="52" name="Shape 44"/>
          <p:cNvSpPr/>
          <p:nvPr/>
        </p:nvSpPr>
        <p:spPr>
          <a:xfrm>
            <a:off x="457200" y="3419856"/>
            <a:ext cx="8229600" cy="1207008"/>
          </a:xfrm>
          <a:prstGeom prst="roundRect">
            <a:avLst>
              <a:gd name="adj" fmla="val 4545"/>
            </a:avLst>
          </a:prstGeom>
          <a:solidFill>
            <a:schemeClr val="tx2"/>
          </a:solidFill>
          <a:ln w="9525">
            <a:solidFill>
              <a:schemeClr val="accent6"/>
            </a:solidFill>
            <a:prstDash val="solid"/>
          </a:ln>
        </p:spPr>
      </p:sp>
      <p:sp>
        <p:nvSpPr>
          <p:cNvPr id="53" name="Text 45"/>
          <p:cNvSpPr txBox="1"/>
          <p:nvPr/>
        </p:nvSpPr>
        <p:spPr>
          <a:xfrm>
            <a:off x="585216" y="3470148"/>
            <a:ext cx="182880" cy="18288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4" name="Text 46"/>
          <p:cNvSpPr txBox="1"/>
          <p:nvPr/>
        </p:nvSpPr>
        <p:spPr>
          <a:xfrm>
            <a:off x="896112" y="3456432"/>
            <a:ext cx="1600200" cy="210312"/>
          </a:xfrm>
          <a:prstGeom prst="rect">
            <a:avLst/>
          </a:prstGeom>
          <a:noFill/>
          <a:ln/>
        </p:spPr>
        <p:txBody>
          <a:bodyPr wrap="square" lIns="0" tIns="0" rIns="0" bIns="0" rtlCol="0" anchor="ctr"/>
          <a:lstStyle/>
          <a:p>
            <a:pPr marL="0" indent="0">
              <a:buNone/>
            </a:pPr>
            <a:r>
              <a:rPr lang="en-US" sz="900" b="1" dirty="0">
                <a:solidFill>
                  <a:schemeClr val="accent4"/>
                </a:solidFill>
                <a:latin typeface="Courier New" pitchFamily="34" charset="0"/>
                <a:ea typeface="Courier New" pitchFamily="34" charset="-122"/>
                <a:cs typeface="Courier New" pitchFamily="34" charset="-120"/>
              </a:rPr>
              <a:t>Dataset → HDFS</a:t>
            </a:r>
            <a:endParaRPr lang="en-US" sz="900" dirty="0"/>
          </a:p>
        </p:txBody>
      </p:sp>
      <p:sp>
        <p:nvSpPr>
          <p:cNvPr id="55" name="Text 47"/>
          <p:cNvSpPr txBox="1"/>
          <p:nvPr/>
        </p:nvSpPr>
        <p:spPr>
          <a:xfrm>
            <a:off x="2560320" y="3456432"/>
            <a:ext cx="6035040" cy="210312"/>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ir_train.csv is uploaded to /public_transport_delay/input/</a:t>
            </a:r>
            <a:endParaRPr lang="en-US" sz="1100" dirty="0"/>
          </a:p>
        </p:txBody>
      </p:sp>
      <p:sp>
        <p:nvSpPr>
          <p:cNvPr id="56" name="Shape 48"/>
          <p:cNvSpPr/>
          <p:nvPr/>
        </p:nvSpPr>
        <p:spPr>
          <a:xfrm>
            <a:off x="548640" y="3680460"/>
            <a:ext cx="8046720" cy="0"/>
          </a:xfrm>
          <a:prstGeom prst="line">
            <a:avLst/>
          </a:prstGeom>
          <a:noFill/>
          <a:ln w="6350">
            <a:solidFill>
              <a:schemeClr val="accent6"/>
            </a:solidFill>
            <a:prstDash val="solid"/>
          </a:ln>
        </p:spPr>
      </p:sp>
      <p:sp>
        <p:nvSpPr>
          <p:cNvPr id="57" name="Text 49"/>
          <p:cNvSpPr txBox="1"/>
          <p:nvPr/>
        </p:nvSpPr>
        <p:spPr>
          <a:xfrm>
            <a:off x="585216" y="3698748"/>
            <a:ext cx="182880" cy="18288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8" name="Text 50"/>
          <p:cNvSpPr txBox="1"/>
          <p:nvPr/>
        </p:nvSpPr>
        <p:spPr>
          <a:xfrm>
            <a:off x="896112" y="3685032"/>
            <a:ext cx="1600200" cy="210312"/>
          </a:xfrm>
          <a:prstGeom prst="rect">
            <a:avLst/>
          </a:prstGeom>
          <a:noFill/>
          <a:ln/>
        </p:spPr>
        <p:txBody>
          <a:bodyPr wrap="square" lIns="0" tIns="0" rIns="0" bIns="0" rtlCol="0" anchor="ctr"/>
          <a:lstStyle/>
          <a:p>
            <a:pPr marL="0" indent="0">
              <a:buNone/>
            </a:pPr>
            <a:r>
              <a:rPr lang="en-US" sz="900" b="1" dirty="0">
                <a:solidFill>
                  <a:schemeClr val="accent4"/>
                </a:solidFill>
                <a:latin typeface="Courier New" pitchFamily="34" charset="0"/>
                <a:ea typeface="Courier New" pitchFamily="34" charset="-122"/>
                <a:cs typeface="Courier New" pitchFamily="34" charset="-120"/>
              </a:rPr>
              <a:t>HDFS → MapReduce</a:t>
            </a:r>
            <a:endParaRPr lang="en-US" sz="900" dirty="0"/>
          </a:p>
        </p:txBody>
      </p:sp>
      <p:sp>
        <p:nvSpPr>
          <p:cNvPr id="59" name="Text 51"/>
          <p:cNvSpPr txBox="1"/>
          <p:nvPr/>
        </p:nvSpPr>
        <p:spPr>
          <a:xfrm>
            <a:off x="2560320" y="3685032"/>
            <a:ext cx="6035040" cy="210312"/>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TransportDelayAnalysis.java reads the CSV from HDFS</a:t>
            </a:r>
            <a:endParaRPr lang="en-US" sz="1100" dirty="0"/>
          </a:p>
        </p:txBody>
      </p:sp>
      <p:sp>
        <p:nvSpPr>
          <p:cNvPr id="60" name="Shape 52"/>
          <p:cNvSpPr/>
          <p:nvPr/>
        </p:nvSpPr>
        <p:spPr>
          <a:xfrm>
            <a:off x="548640" y="3909060"/>
            <a:ext cx="8046720" cy="0"/>
          </a:xfrm>
          <a:prstGeom prst="line">
            <a:avLst/>
          </a:prstGeom>
          <a:noFill/>
          <a:ln w="6350">
            <a:solidFill>
              <a:schemeClr val="accent6"/>
            </a:solidFill>
            <a:prstDash val="solid"/>
          </a:ln>
        </p:spPr>
      </p:sp>
      <p:sp>
        <p:nvSpPr>
          <p:cNvPr id="61" name="Text 53"/>
          <p:cNvSpPr txBox="1"/>
          <p:nvPr/>
        </p:nvSpPr>
        <p:spPr>
          <a:xfrm>
            <a:off x="585216" y="3927348"/>
            <a:ext cx="182880" cy="18288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62" name="Text 54"/>
          <p:cNvSpPr txBox="1"/>
          <p:nvPr/>
        </p:nvSpPr>
        <p:spPr>
          <a:xfrm>
            <a:off x="896112" y="3913632"/>
            <a:ext cx="1600200" cy="210312"/>
          </a:xfrm>
          <a:prstGeom prst="rect">
            <a:avLst/>
          </a:prstGeom>
          <a:noFill/>
          <a:ln/>
        </p:spPr>
        <p:txBody>
          <a:bodyPr wrap="square" lIns="0" tIns="0" rIns="0" bIns="0" rtlCol="0" anchor="ctr"/>
          <a:lstStyle/>
          <a:p>
            <a:pPr marL="0" indent="0">
              <a:buNone/>
            </a:pPr>
            <a:r>
              <a:rPr lang="en-US" sz="900" b="1" dirty="0">
                <a:solidFill>
                  <a:schemeClr val="accent4"/>
                </a:solidFill>
                <a:latin typeface="Courier New" pitchFamily="34" charset="0"/>
                <a:ea typeface="Courier New" pitchFamily="34" charset="-122"/>
                <a:cs typeface="Courier New" pitchFamily="34" charset="-120"/>
              </a:rPr>
              <a:t>MapReduce → Output</a:t>
            </a:r>
            <a:endParaRPr lang="en-US" sz="900" dirty="0"/>
          </a:p>
        </p:txBody>
      </p:sp>
      <p:sp>
        <p:nvSpPr>
          <p:cNvPr id="63" name="Text 55"/>
          <p:cNvSpPr txBox="1"/>
          <p:nvPr/>
        </p:nvSpPr>
        <p:spPr>
          <a:xfrm>
            <a:off x="2560320" y="3913632"/>
            <a:ext cx="6035040" cy="210312"/>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70 summary records are saved to /public_transport_delay/mapreduce_output/part-r-00000</a:t>
            </a:r>
            <a:endParaRPr lang="en-US" sz="1100" dirty="0"/>
          </a:p>
        </p:txBody>
      </p:sp>
      <p:sp>
        <p:nvSpPr>
          <p:cNvPr id="64" name="Shape 56"/>
          <p:cNvSpPr/>
          <p:nvPr/>
        </p:nvSpPr>
        <p:spPr>
          <a:xfrm>
            <a:off x="548640" y="4137660"/>
            <a:ext cx="8046720" cy="0"/>
          </a:xfrm>
          <a:prstGeom prst="line">
            <a:avLst/>
          </a:prstGeom>
          <a:noFill/>
          <a:ln w="6350">
            <a:solidFill>
              <a:schemeClr val="accent6"/>
            </a:solidFill>
            <a:prstDash val="solid"/>
          </a:ln>
        </p:spPr>
      </p:sp>
      <p:sp>
        <p:nvSpPr>
          <p:cNvPr id="65" name="Text 57"/>
          <p:cNvSpPr txBox="1"/>
          <p:nvPr/>
        </p:nvSpPr>
        <p:spPr>
          <a:xfrm>
            <a:off x="585216" y="4155948"/>
            <a:ext cx="182880" cy="18288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66" name="Text 58"/>
          <p:cNvSpPr txBox="1"/>
          <p:nvPr/>
        </p:nvSpPr>
        <p:spPr>
          <a:xfrm>
            <a:off x="896112" y="4142232"/>
            <a:ext cx="1600200" cy="210312"/>
          </a:xfrm>
          <a:prstGeom prst="rect">
            <a:avLst/>
          </a:prstGeom>
          <a:noFill/>
          <a:ln/>
        </p:spPr>
        <p:txBody>
          <a:bodyPr wrap="square" lIns="0" tIns="0" rIns="0" bIns="0" rtlCol="0" anchor="ctr"/>
          <a:lstStyle/>
          <a:p>
            <a:pPr marL="0" indent="0">
              <a:buNone/>
            </a:pPr>
            <a:r>
              <a:rPr lang="en-US" sz="900" b="1" dirty="0">
                <a:solidFill>
                  <a:schemeClr val="accent4"/>
                </a:solidFill>
                <a:latin typeface="Courier New" pitchFamily="34" charset="0"/>
                <a:ea typeface="Courier New" pitchFamily="34" charset="-122"/>
                <a:cs typeface="Courier New" pitchFamily="34" charset="-120"/>
              </a:rPr>
              <a:t>Output → Cassandra</a:t>
            </a:r>
            <a:endParaRPr lang="en-US" sz="900" dirty="0"/>
          </a:p>
        </p:txBody>
      </p:sp>
      <p:sp>
        <p:nvSpPr>
          <p:cNvPr id="67" name="Text 59"/>
          <p:cNvSpPr txBox="1"/>
          <p:nvPr/>
        </p:nvSpPr>
        <p:spPr>
          <a:xfrm>
            <a:off x="2560320" y="4142232"/>
            <a:ext cx="6035040" cy="210312"/>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load_to_cassandra.py inserts 70 rows into transport_analysis.delay_summary</a:t>
            </a:r>
            <a:endParaRPr lang="en-US" sz="1100" dirty="0"/>
          </a:p>
        </p:txBody>
      </p:sp>
      <p:sp>
        <p:nvSpPr>
          <p:cNvPr id="68" name="Shape 60"/>
          <p:cNvSpPr/>
          <p:nvPr/>
        </p:nvSpPr>
        <p:spPr>
          <a:xfrm>
            <a:off x="548640" y="4366260"/>
            <a:ext cx="8046720" cy="0"/>
          </a:xfrm>
          <a:prstGeom prst="line">
            <a:avLst/>
          </a:prstGeom>
          <a:noFill/>
          <a:ln w="6350">
            <a:solidFill>
              <a:schemeClr val="accent6"/>
            </a:solidFill>
            <a:prstDash val="solid"/>
          </a:ln>
        </p:spPr>
      </p:sp>
      <p:sp>
        <p:nvSpPr>
          <p:cNvPr id="69" name="Text 61"/>
          <p:cNvSpPr txBox="1"/>
          <p:nvPr/>
        </p:nvSpPr>
        <p:spPr>
          <a:xfrm>
            <a:off x="585216" y="4384548"/>
            <a:ext cx="182880" cy="18288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70" name="Text 62"/>
          <p:cNvSpPr txBox="1"/>
          <p:nvPr/>
        </p:nvSpPr>
        <p:spPr>
          <a:xfrm>
            <a:off x="896112" y="4370832"/>
            <a:ext cx="1600200" cy="210312"/>
          </a:xfrm>
          <a:prstGeom prst="rect">
            <a:avLst/>
          </a:prstGeom>
          <a:noFill/>
          <a:ln/>
        </p:spPr>
        <p:txBody>
          <a:bodyPr wrap="square" lIns="0" tIns="0" rIns="0" bIns="0" rtlCol="0" anchor="ctr"/>
          <a:lstStyle/>
          <a:p>
            <a:pPr marL="0" indent="0">
              <a:buNone/>
            </a:pPr>
            <a:r>
              <a:rPr lang="en-US" sz="900" b="1" dirty="0">
                <a:solidFill>
                  <a:schemeClr val="accent4"/>
                </a:solidFill>
                <a:latin typeface="Courier New" pitchFamily="34" charset="0"/>
                <a:ea typeface="Courier New" pitchFamily="34" charset="-122"/>
                <a:cs typeface="Courier New" pitchFamily="34" charset="-120"/>
              </a:rPr>
              <a:t>Cassandra → Streamlit</a:t>
            </a:r>
            <a:endParaRPr lang="en-US" sz="900" dirty="0"/>
          </a:p>
        </p:txBody>
      </p:sp>
      <p:sp>
        <p:nvSpPr>
          <p:cNvPr id="71" name="Text 63"/>
          <p:cNvSpPr txBox="1"/>
          <p:nvPr/>
        </p:nvSpPr>
        <p:spPr>
          <a:xfrm>
            <a:off x="2560320" y="4370832"/>
            <a:ext cx="6035040" cy="210312"/>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app.py reads Cassandra and shows the data in Streamlit</a:t>
            </a:r>
            <a:endParaRPr lang="en-US" sz="1100" dirty="0"/>
          </a:p>
        </p:txBody>
      </p:sp>
      <p:sp>
        <p:nvSpPr>
          <p:cNvPr id="72" name="Current station marker"/>
          <p:cNvSpPr/>
          <p:nvPr/>
        </p:nvSpPr>
        <p:spPr>
          <a:xfrm>
            <a:off x="2976372"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05  |  METHODOLOGY &amp; HDFS</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Methodology</a:t>
            </a:r>
            <a:endParaRPr lang="en-US" sz="2400" dirty="0"/>
          </a:p>
        </p:txBody>
      </p:sp>
      <p:sp>
        <p:nvSpPr>
          <p:cNvPr id="5" name="Shape 2"/>
          <p:cNvSpPr/>
          <p:nvPr/>
        </p:nvSpPr>
        <p:spPr>
          <a:xfrm>
            <a:off x="1417320" y="1325880"/>
            <a:ext cx="6172200" cy="0"/>
          </a:xfrm>
          <a:prstGeom prst="line">
            <a:avLst/>
          </a:prstGeom>
          <a:noFill/>
          <a:ln w="44450">
            <a:solidFill>
              <a:schemeClr val="accent2"/>
            </a:solidFill>
            <a:prstDash val="solid"/>
          </a:ln>
        </p:spPr>
      </p:sp>
      <p:sp>
        <p:nvSpPr>
          <p:cNvPr id="6" name="Shape 3"/>
          <p:cNvSpPr/>
          <p:nvPr/>
        </p:nvSpPr>
        <p:spPr>
          <a:xfrm>
            <a:off x="7589520" y="1325880"/>
            <a:ext cx="1024128" cy="0"/>
          </a:xfrm>
          <a:prstGeom prst="line">
            <a:avLst/>
          </a:prstGeom>
          <a:noFill/>
          <a:ln w="44450">
            <a:solidFill>
              <a:schemeClr val="accent2"/>
            </a:solidFill>
            <a:prstDash val="solid"/>
          </a:ln>
        </p:spPr>
      </p:sp>
      <p:sp>
        <p:nvSpPr>
          <p:cNvPr id="7" name="Shape 4"/>
          <p:cNvSpPr/>
          <p:nvPr/>
        </p:nvSpPr>
        <p:spPr>
          <a:xfrm>
            <a:off x="8613648" y="1325880"/>
            <a:ext cx="0" cy="1188720"/>
          </a:xfrm>
          <a:prstGeom prst="line">
            <a:avLst/>
          </a:prstGeom>
          <a:noFill/>
          <a:ln w="44450">
            <a:solidFill>
              <a:schemeClr val="accent2"/>
            </a:solidFill>
            <a:prstDash val="solid"/>
          </a:ln>
        </p:spPr>
      </p:sp>
      <p:sp>
        <p:nvSpPr>
          <p:cNvPr id="8" name="Shape 5"/>
          <p:cNvSpPr/>
          <p:nvPr/>
        </p:nvSpPr>
        <p:spPr>
          <a:xfrm flipH="1">
            <a:off x="7589520" y="2514600"/>
            <a:ext cx="1024128" cy="0"/>
          </a:xfrm>
          <a:prstGeom prst="line">
            <a:avLst/>
          </a:prstGeom>
          <a:noFill/>
          <a:ln w="44450">
            <a:solidFill>
              <a:schemeClr val="accent2"/>
            </a:solidFill>
            <a:prstDash val="solid"/>
          </a:ln>
        </p:spPr>
      </p:sp>
      <p:sp>
        <p:nvSpPr>
          <p:cNvPr id="9" name="Shape 6"/>
          <p:cNvSpPr/>
          <p:nvPr/>
        </p:nvSpPr>
        <p:spPr>
          <a:xfrm>
            <a:off x="3474720" y="2514600"/>
            <a:ext cx="4114800" cy="0"/>
          </a:xfrm>
          <a:prstGeom prst="line">
            <a:avLst/>
          </a:prstGeom>
          <a:noFill/>
          <a:ln w="44450">
            <a:solidFill>
              <a:schemeClr val="accent2"/>
            </a:solidFill>
            <a:prstDash val="solid"/>
          </a:ln>
        </p:spPr>
      </p:sp>
      <p:sp>
        <p:nvSpPr>
          <p:cNvPr id="10" name="Text 7"/>
          <p:cNvSpPr txBox="1"/>
          <p:nvPr/>
        </p:nvSpPr>
        <p:spPr>
          <a:xfrm>
            <a:off x="1234440" y="114300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502920" y="157276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Prepare the data</a:t>
            </a:r>
            <a:endParaRPr lang="en-US" sz="1150" dirty="0"/>
          </a:p>
        </p:txBody>
      </p:sp>
      <p:sp>
        <p:nvSpPr>
          <p:cNvPr id="12" name="Text 9"/>
          <p:cNvSpPr txBox="1"/>
          <p:nvPr/>
        </p:nvSpPr>
        <p:spPr>
          <a:xfrm>
            <a:off x="548640" y="178308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Download the dataset and read the data dictionary</a:t>
            </a:r>
            <a:endParaRPr lang="en-US" sz="1050" dirty="0"/>
          </a:p>
        </p:txBody>
      </p:sp>
      <p:sp>
        <p:nvSpPr>
          <p:cNvPr id="13" name="Text 10"/>
          <p:cNvSpPr txBox="1"/>
          <p:nvPr/>
        </p:nvSpPr>
        <p:spPr>
          <a:xfrm>
            <a:off x="3291840" y="114300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2560320" y="157276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Store in HDFS</a:t>
            </a:r>
            <a:endParaRPr lang="en-US" sz="1150" dirty="0"/>
          </a:p>
        </p:txBody>
      </p:sp>
      <p:sp>
        <p:nvSpPr>
          <p:cNvPr id="15" name="Text 12"/>
          <p:cNvSpPr txBox="1"/>
          <p:nvPr/>
        </p:nvSpPr>
        <p:spPr>
          <a:xfrm>
            <a:off x="2606040" y="178308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Put ir_train.csv in the HDFS input folder</a:t>
            </a:r>
            <a:endParaRPr lang="en-US" sz="1050" dirty="0"/>
          </a:p>
        </p:txBody>
      </p:sp>
      <p:sp>
        <p:nvSpPr>
          <p:cNvPr id="16" name="Text 13"/>
          <p:cNvSpPr txBox="1"/>
          <p:nvPr/>
        </p:nvSpPr>
        <p:spPr>
          <a:xfrm>
            <a:off x="5349240" y="114300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4617720" y="157276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Compile the program</a:t>
            </a:r>
            <a:endParaRPr lang="en-US" sz="1150" dirty="0"/>
          </a:p>
        </p:txBody>
      </p:sp>
      <p:sp>
        <p:nvSpPr>
          <p:cNvPr id="18" name="Text 15"/>
          <p:cNvSpPr txBox="1"/>
          <p:nvPr/>
        </p:nvSpPr>
        <p:spPr>
          <a:xfrm>
            <a:off x="4663440" y="178308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Compile the Java code (JDK 8) into a JAR</a:t>
            </a:r>
            <a:endParaRPr lang="en-US" sz="1050" dirty="0"/>
          </a:p>
        </p:txBody>
      </p:sp>
      <p:sp>
        <p:nvSpPr>
          <p:cNvPr id="19" name="Text 16"/>
          <p:cNvSpPr txBox="1"/>
          <p:nvPr/>
        </p:nvSpPr>
        <p:spPr>
          <a:xfrm>
            <a:off x="7406640" y="114300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6675120" y="157276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Run MapReduce</a:t>
            </a:r>
            <a:endParaRPr lang="en-US" sz="1150" dirty="0"/>
          </a:p>
        </p:txBody>
      </p:sp>
      <p:sp>
        <p:nvSpPr>
          <p:cNvPr id="21" name="Text 18"/>
          <p:cNvSpPr txBox="1"/>
          <p:nvPr/>
        </p:nvSpPr>
        <p:spPr>
          <a:xfrm>
            <a:off x="6720840" y="178308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The Hadoop job writes</a:t>
            </a:r>
            <a:endParaRPr lang="en-US" sz="1050" dirty="0"/>
          </a:p>
          <a:p>
            <a:pPr marL="0" indent="0" algn="ctr">
              <a:buNone/>
            </a:pPr>
            <a:r>
              <a:rPr lang="en-US" sz="1050" dirty="0">
                <a:solidFill>
                  <a:schemeClr val="accent6"/>
                </a:solidFill>
                <a:latin typeface="Calibri" pitchFamily="34" charset="0"/>
                <a:ea typeface="Calibri" pitchFamily="34" charset="-122"/>
                <a:cs typeface="Calibri" pitchFamily="34" charset="-120"/>
              </a:rPr>
              <a:t>part-r-00000 to HDFS</a:t>
            </a:r>
            <a:endParaRPr lang="en-US" sz="1050" dirty="0"/>
          </a:p>
        </p:txBody>
      </p:sp>
      <p:sp>
        <p:nvSpPr>
          <p:cNvPr id="22" name="Text 19"/>
          <p:cNvSpPr txBox="1"/>
          <p:nvPr/>
        </p:nvSpPr>
        <p:spPr>
          <a:xfrm>
            <a:off x="7406640" y="233172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0"/>
          <p:cNvSpPr txBox="1"/>
          <p:nvPr/>
        </p:nvSpPr>
        <p:spPr>
          <a:xfrm>
            <a:off x="6675120" y="276148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Create the Cassandra table</a:t>
            </a:r>
            <a:endParaRPr lang="en-US" sz="1150" dirty="0"/>
          </a:p>
        </p:txBody>
      </p:sp>
      <p:sp>
        <p:nvSpPr>
          <p:cNvPr id="24" name="Text 21"/>
          <p:cNvSpPr txBox="1"/>
          <p:nvPr/>
        </p:nvSpPr>
        <p:spPr>
          <a:xfrm>
            <a:off x="6720840" y="297180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Keyspace transport_analysis, table delay_summary</a:t>
            </a:r>
            <a:endParaRPr lang="en-US" sz="1050" dirty="0"/>
          </a:p>
        </p:txBody>
      </p:sp>
      <p:sp>
        <p:nvSpPr>
          <p:cNvPr id="25" name="Text 22"/>
          <p:cNvSpPr txBox="1"/>
          <p:nvPr/>
        </p:nvSpPr>
        <p:spPr>
          <a:xfrm>
            <a:off x="5349240" y="233172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3"/>
          <p:cNvSpPr txBox="1"/>
          <p:nvPr/>
        </p:nvSpPr>
        <p:spPr>
          <a:xfrm>
            <a:off x="4617720" y="276148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Load the results</a:t>
            </a:r>
            <a:endParaRPr lang="en-US" sz="1150" dirty="0"/>
          </a:p>
        </p:txBody>
      </p:sp>
      <p:sp>
        <p:nvSpPr>
          <p:cNvPr id="27" name="Text 24"/>
          <p:cNvSpPr txBox="1"/>
          <p:nvPr/>
        </p:nvSpPr>
        <p:spPr>
          <a:xfrm>
            <a:off x="4663440" y="297180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load_to_cassandra.py inserts the 70 summary rows</a:t>
            </a:r>
            <a:endParaRPr lang="en-US" sz="1050" dirty="0"/>
          </a:p>
        </p:txBody>
      </p:sp>
      <p:sp>
        <p:nvSpPr>
          <p:cNvPr id="28" name="Text 25"/>
          <p:cNvSpPr txBox="1"/>
          <p:nvPr/>
        </p:nvSpPr>
        <p:spPr>
          <a:xfrm>
            <a:off x="3291840" y="2331720"/>
            <a:ext cx="365760" cy="365760"/>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6"/>
          <p:cNvSpPr txBox="1"/>
          <p:nvPr/>
        </p:nvSpPr>
        <p:spPr>
          <a:xfrm>
            <a:off x="2560320" y="2761488"/>
            <a:ext cx="1828800" cy="201168"/>
          </a:xfrm>
          <a:prstGeom prst="rect">
            <a:avLst/>
          </a:prstGeom>
          <a:noFill/>
          <a:ln/>
        </p:spPr>
        <p:txBody>
          <a:bodyPr wrap="square" lIns="0" tIns="0" rIns="0" bIns="0" rtlCol="0" anchor="t"/>
          <a:lstStyle/>
          <a:p>
            <a:pPr marL="0" indent="0" algn="ctr">
              <a:buNone/>
            </a:pPr>
            <a:r>
              <a:rPr lang="en-US" sz="1150" b="1" dirty="0">
                <a:solidFill>
                  <a:schemeClr val="tx1"/>
                </a:solidFill>
                <a:latin typeface="Calibri" pitchFamily="34" charset="0"/>
                <a:ea typeface="Calibri" pitchFamily="34" charset="-122"/>
                <a:cs typeface="Calibri" pitchFamily="34" charset="-120"/>
              </a:rPr>
              <a:t>Visualize</a:t>
            </a:r>
            <a:endParaRPr lang="en-US" sz="1150" dirty="0"/>
          </a:p>
        </p:txBody>
      </p:sp>
      <p:sp>
        <p:nvSpPr>
          <p:cNvPr id="30" name="Text 27"/>
          <p:cNvSpPr txBox="1"/>
          <p:nvPr/>
        </p:nvSpPr>
        <p:spPr>
          <a:xfrm>
            <a:off x="2606040" y="2971800"/>
            <a:ext cx="1737360" cy="457200"/>
          </a:xfrm>
          <a:prstGeom prst="rect">
            <a:avLst/>
          </a:prstGeom>
          <a:noFill/>
          <a:ln/>
        </p:spPr>
        <p:txBody>
          <a:bodyPr wrap="square" lIns="0" tIns="0" rIns="0" bIns="0" rtlCol="0" anchor="t"/>
          <a:lstStyle/>
          <a:p>
            <a:pPr marL="0" indent="0" algn="ctr">
              <a:buNone/>
            </a:pPr>
            <a:r>
              <a:rPr lang="en-US" sz="1050" dirty="0">
                <a:solidFill>
                  <a:schemeClr val="accent6"/>
                </a:solidFill>
                <a:latin typeface="Calibri" pitchFamily="34" charset="0"/>
                <a:ea typeface="Calibri" pitchFamily="34" charset="-122"/>
                <a:cs typeface="Calibri" pitchFamily="34" charset="-120"/>
              </a:rPr>
              <a:t>app.py reads Cassandra; Streamlit shows 4 tabs</a:t>
            </a:r>
            <a:endParaRPr lang="en-US" sz="1050" dirty="0"/>
          </a:p>
        </p:txBody>
      </p:sp>
      <p:sp>
        <p:nvSpPr>
          <p:cNvPr id="31" name="Shape 28"/>
          <p:cNvSpPr/>
          <p:nvPr/>
        </p:nvSpPr>
        <p:spPr>
          <a:xfrm>
            <a:off x="457200" y="2304288"/>
            <a:ext cx="2103120" cy="658368"/>
          </a:xfrm>
          <a:prstGeom prst="roundRect">
            <a:avLst>
              <a:gd name="adj" fmla="val 8333"/>
            </a:avLst>
          </a:prstGeom>
          <a:solidFill>
            <a:schemeClr val="tx2"/>
          </a:solidFill>
          <a:ln w="9525">
            <a:solidFill>
              <a:schemeClr val="accent6"/>
            </a:solidFill>
            <a:prstDash val="solid"/>
          </a:ln>
        </p:spPr>
      </p:sp>
      <p:sp>
        <p:nvSpPr>
          <p:cNvPr id="32" name="Text 29"/>
          <p:cNvSpPr txBox="1"/>
          <p:nvPr/>
        </p:nvSpPr>
        <p:spPr>
          <a:xfrm>
            <a:off x="566928" y="2340864"/>
            <a:ext cx="1883664" cy="585216"/>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Hadoop and Cassandra were run locally on one machine.</a:t>
            </a:r>
            <a:endParaRPr lang="en-US" sz="1050" dirty="0"/>
          </a:p>
        </p:txBody>
      </p:sp>
      <p:sp>
        <p:nvSpPr>
          <p:cNvPr id="33" name="Text 30"/>
          <p:cNvSpPr txBox="1"/>
          <p:nvPr/>
        </p:nvSpPr>
        <p:spPr>
          <a:xfrm>
            <a:off x="457200" y="3547872"/>
            <a:ext cx="8229600" cy="182880"/>
          </a:xfrm>
          <a:prstGeom prst="rect">
            <a:avLst/>
          </a:prstGeom>
          <a:noFill/>
          <a:ln/>
        </p:spPr>
        <p:txBody>
          <a:bodyPr wrap="square" lIns="0" tIns="0" rIns="0" bIns="0" rtlCol="0" anchor="t"/>
          <a:lstStyle/>
          <a:p>
            <a:pPr marL="0" indent="0">
              <a:buNone/>
            </a:pPr>
            <a:r>
              <a:rPr lang="en-US" sz="1050" b="1" dirty="0">
                <a:solidFill>
                  <a:schemeClr val="accent6"/>
                </a:solidFill>
                <a:latin typeface="Calibri" pitchFamily="34" charset="0"/>
                <a:ea typeface="Calibri" pitchFamily="34" charset="-122"/>
                <a:cs typeface="Calibri" pitchFamily="34" charset="-120"/>
              </a:rPr>
              <a:t>Evidence: dataset uploaded to HDFS (hdfs dfs -put, -ls, -du)</a:t>
            </a:r>
            <a:endParaRPr lang="en-US" sz="1050" dirty="0"/>
          </a:p>
        </p:txBody>
      </p:sp>
      <p:sp>
        <p:nvSpPr>
          <p:cNvPr id="34" name="Shape 31"/>
          <p:cNvSpPr/>
          <p:nvPr/>
        </p:nvSpPr>
        <p:spPr>
          <a:xfrm>
            <a:off x="457200" y="3749040"/>
            <a:ext cx="8229600" cy="896112"/>
          </a:xfrm>
          <a:prstGeom prst="roundRect">
            <a:avLst>
              <a:gd name="adj" fmla="val 6122"/>
            </a:avLst>
          </a:prstGeom>
          <a:solidFill>
            <a:srgbClr val="0C0C0C"/>
          </a:solidFill>
          <a:ln w="9525">
            <a:solidFill>
              <a:schemeClr val="accent3"/>
            </a:solidFill>
            <a:prstDash val="solid"/>
          </a:ln>
          <a:effectLst>
            <a:outerShdw blurRad="76200" dist="19050" dir="5400000" algn="bl" rotWithShape="0">
              <a:srgbClr val="0B1F3A">
                <a:alpha val="12000"/>
              </a:srgbClr>
            </a:outerShdw>
          </a:effectLst>
        </p:spPr>
      </p:sp>
      <p:pic>
        <p:nvPicPr>
          <p:cNvPr id="35" name="Image 0" descr="PowerShell screenshot: hdfs dfs -mkdir, -put, -ls and -du on ir_train.csv showing 321.5 M"/>
          <p:cNvPicPr>
            <a:picLocks noChangeAspect="1"/>
          </p:cNvPicPr>
          <p:nvPr/>
        </p:nvPicPr>
        <p:blipFill>
          <a:blip r:embed="rId3"/>
          <a:stretch>
            <a:fillRect/>
          </a:stretch>
        </p:blipFill>
        <p:spPr>
          <a:xfrm>
            <a:off x="502920" y="3776472"/>
            <a:ext cx="8138160" cy="799186"/>
          </a:xfrm>
          <a:prstGeom prst="rect">
            <a:avLst/>
          </a:prstGeom>
        </p:spPr>
      </p:pic>
      <p:sp>
        <p:nvSpPr>
          <p:cNvPr id="36" name="Current station marker"/>
          <p:cNvSpPr/>
          <p:nvPr/>
        </p:nvSpPr>
        <p:spPr>
          <a:xfrm>
            <a:off x="3785616"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06  |  MAPREDUCE</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MapReduce Processing</a:t>
            </a:r>
            <a:endParaRPr lang="en-US" sz="2400" dirty="0"/>
          </a:p>
        </p:txBody>
      </p:sp>
      <p:sp>
        <p:nvSpPr>
          <p:cNvPr id="5" name="Shape 2"/>
          <p:cNvSpPr/>
          <p:nvPr/>
        </p:nvSpPr>
        <p:spPr>
          <a:xfrm>
            <a:off x="457200" y="1051560"/>
            <a:ext cx="4937760" cy="822960"/>
          </a:xfrm>
          <a:prstGeom prst="roundRect">
            <a:avLst>
              <a:gd name="adj" fmla="val 6667"/>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6" name="Text 3"/>
          <p:cNvSpPr txBox="1"/>
          <p:nvPr/>
        </p:nvSpPr>
        <p:spPr>
          <a:xfrm>
            <a:off x="640080" y="1097280"/>
            <a:ext cx="2103120" cy="411480"/>
          </a:xfrm>
          <a:prstGeom prst="rect">
            <a:avLst/>
          </a:prstGeom>
          <a:noFill/>
          <a:ln/>
        </p:spPr>
        <p:txBody>
          <a:bodyPr wrap="square" lIns="0" tIns="0" rIns="0" bIns="0" rtlCol="0" anchor="ctr"/>
          <a:lstStyle/>
          <a:p>
            <a:pPr marL="0" indent="0">
              <a:buNone/>
            </a:pPr>
            <a:r>
              <a:rPr lang="en-US" sz="2600" b="1" dirty="0">
                <a:solidFill>
                  <a:schemeClr val="accent4"/>
                </a:solidFill>
                <a:latin typeface="Courier New" pitchFamily="34" charset="0"/>
                <a:ea typeface="Courier New" pitchFamily="34" charset="-122"/>
                <a:cs typeface="Courier New" pitchFamily="34" charset="-120"/>
              </a:rPr>
              <a:t>1,500,000</a:t>
            </a:r>
            <a:endParaRPr lang="en-US" sz="2600" dirty="0"/>
          </a:p>
        </p:txBody>
      </p:sp>
      <p:sp>
        <p:nvSpPr>
          <p:cNvPr id="7" name="Text 4"/>
          <p:cNvSpPr txBox="1"/>
          <p:nvPr/>
        </p:nvSpPr>
        <p:spPr>
          <a:xfrm>
            <a:off x="640080" y="1536192"/>
            <a:ext cx="2103120" cy="201168"/>
          </a:xfrm>
          <a:prstGeom prst="rect">
            <a:avLst/>
          </a:prstGeom>
          <a:noFill/>
          <a:ln/>
        </p:spPr>
        <p:txBody>
          <a:bodyPr wrap="square" lIns="0" tIns="0" rIns="0" bIns="0" rtlCol="0" anchor="t"/>
          <a:lstStyle/>
          <a:p>
            <a:pPr marL="0" indent="0">
              <a:buNone/>
            </a:pPr>
            <a:r>
              <a:rPr lang="en-US" sz="1100" dirty="0">
                <a:solidFill>
                  <a:schemeClr val="accent5"/>
                </a:solidFill>
                <a:latin typeface="Calibri" pitchFamily="34" charset="0"/>
                <a:ea typeface="Calibri" pitchFamily="34" charset="-122"/>
                <a:cs typeface="Calibri" pitchFamily="34" charset="-120"/>
              </a:rPr>
              <a:t>input records</a:t>
            </a:r>
            <a:endParaRPr lang="en-US" sz="1100" dirty="0"/>
          </a:p>
        </p:txBody>
      </p:sp>
      <p:sp>
        <p:nvSpPr>
          <p:cNvPr id="8" name="Shape 5"/>
          <p:cNvSpPr/>
          <p:nvPr/>
        </p:nvSpPr>
        <p:spPr>
          <a:xfrm>
            <a:off x="2926080" y="1325880"/>
            <a:ext cx="548640" cy="274320"/>
          </a:xfrm>
          <a:prstGeom prst="rightArrow">
            <a:avLst/>
          </a:prstGeom>
          <a:solidFill>
            <a:schemeClr val="accent1"/>
          </a:solidFill>
          <a:ln w="12700">
            <a:solidFill>
              <a:schemeClr val="accent1"/>
            </a:solidFill>
            <a:prstDash val="solid"/>
          </a:ln>
        </p:spPr>
      </p:sp>
      <p:sp>
        <p:nvSpPr>
          <p:cNvPr id="9" name="Text 6"/>
          <p:cNvSpPr txBox="1"/>
          <p:nvPr/>
        </p:nvSpPr>
        <p:spPr>
          <a:xfrm>
            <a:off x="3703320" y="1097280"/>
            <a:ext cx="1554480" cy="411480"/>
          </a:xfrm>
          <a:prstGeom prst="rect">
            <a:avLst/>
          </a:prstGeom>
          <a:noFill/>
          <a:ln/>
        </p:spPr>
        <p:txBody>
          <a:bodyPr wrap="square" lIns="0" tIns="0" rIns="0" bIns="0" rtlCol="0" anchor="ctr"/>
          <a:lstStyle/>
          <a:p>
            <a:pPr marL="0" indent="0">
              <a:buNone/>
            </a:pPr>
            <a:r>
              <a:rPr lang="en-US" sz="2600" b="1" dirty="0">
                <a:solidFill>
                  <a:schemeClr val="accent4"/>
                </a:solidFill>
                <a:latin typeface="Courier New" pitchFamily="34" charset="0"/>
                <a:ea typeface="Courier New" pitchFamily="34" charset="-122"/>
                <a:cs typeface="Courier New" pitchFamily="34" charset="-120"/>
              </a:rPr>
              <a:t>70</a:t>
            </a:r>
            <a:endParaRPr lang="en-US" sz="2600" dirty="0"/>
          </a:p>
        </p:txBody>
      </p:sp>
      <p:sp>
        <p:nvSpPr>
          <p:cNvPr id="10" name="Text 7"/>
          <p:cNvSpPr txBox="1"/>
          <p:nvPr/>
        </p:nvSpPr>
        <p:spPr>
          <a:xfrm>
            <a:off x="3703320" y="1536192"/>
            <a:ext cx="1554480" cy="201168"/>
          </a:xfrm>
          <a:prstGeom prst="rect">
            <a:avLst/>
          </a:prstGeom>
          <a:noFill/>
          <a:ln/>
        </p:spPr>
        <p:txBody>
          <a:bodyPr wrap="square" lIns="0" tIns="0" rIns="0" bIns="0" rtlCol="0" anchor="t"/>
          <a:lstStyle/>
          <a:p>
            <a:pPr marL="0" indent="0">
              <a:buNone/>
            </a:pPr>
            <a:r>
              <a:rPr lang="en-US" sz="1100" dirty="0">
                <a:solidFill>
                  <a:schemeClr val="accent5"/>
                </a:solidFill>
                <a:latin typeface="Calibri" pitchFamily="34" charset="0"/>
                <a:ea typeface="Calibri" pitchFamily="34" charset="-122"/>
                <a:cs typeface="Calibri" pitchFamily="34" charset="-120"/>
              </a:rPr>
              <a:t>summary records</a:t>
            </a:r>
            <a:endParaRPr lang="en-US" sz="1100" dirty="0"/>
          </a:p>
        </p:txBody>
      </p:sp>
      <p:sp>
        <p:nvSpPr>
          <p:cNvPr id="11" name="Shape 8"/>
          <p:cNvSpPr/>
          <p:nvPr/>
        </p:nvSpPr>
        <p:spPr>
          <a:xfrm>
            <a:off x="731520" y="2377440"/>
            <a:ext cx="0" cy="1371600"/>
          </a:xfrm>
          <a:prstGeom prst="line">
            <a:avLst/>
          </a:prstGeom>
          <a:noFill/>
          <a:ln w="44450">
            <a:solidFill>
              <a:schemeClr val="accent2"/>
            </a:solidFill>
            <a:prstDash val="solid"/>
          </a:ln>
        </p:spPr>
      </p:sp>
      <p:sp>
        <p:nvSpPr>
          <p:cNvPr id="12" name="Shape 9"/>
          <p:cNvSpPr/>
          <p:nvPr/>
        </p:nvSpPr>
        <p:spPr>
          <a:xfrm>
            <a:off x="1051560" y="2103120"/>
            <a:ext cx="4343400" cy="603504"/>
          </a:xfrm>
          <a:prstGeom prst="roundRect">
            <a:avLst>
              <a:gd name="adj" fmla="val 9091"/>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13" name="Text 10"/>
          <p:cNvSpPr txBox="1"/>
          <p:nvPr/>
        </p:nvSpPr>
        <p:spPr>
          <a:xfrm>
            <a:off x="557784" y="2231136"/>
            <a:ext cx="347472" cy="34747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1"/>
          <p:cNvSpPr txBox="1"/>
          <p:nvPr/>
        </p:nvSpPr>
        <p:spPr>
          <a:xfrm>
            <a:off x="1188720" y="2139696"/>
            <a:ext cx="4114800" cy="530352"/>
          </a:xfrm>
          <a:prstGeom prst="rect">
            <a:avLst/>
          </a:prstGeom>
          <a:noFill/>
          <a:ln/>
        </p:spPr>
        <p:txBody>
          <a:bodyPr wrap="square" lIns="0" tIns="0" rIns="0" bIns="0" rtlCol="0" anchor="ctr"/>
          <a:lstStyle/>
          <a:p>
            <a:pPr marL="0" indent="0">
              <a:buNone/>
            </a:pPr>
            <a:r>
              <a:rPr lang="en-US" sz="1250" b="1" dirty="0">
                <a:solidFill>
                  <a:schemeClr val="accent1"/>
                </a:solidFill>
                <a:latin typeface="Calibri" pitchFamily="34" charset="0"/>
                <a:ea typeface="Calibri" pitchFamily="34" charset="-122"/>
                <a:cs typeface="Calibri" pitchFamily="34" charset="-120"/>
              </a:rPr>
              <a:t>Map  </a:t>
            </a:r>
            <a:r>
              <a:rPr lang="en-US" sz="1150" dirty="0">
                <a:solidFill>
                  <a:schemeClr val="tx1"/>
                </a:solidFill>
                <a:latin typeface="Calibri" pitchFamily="34" charset="0"/>
                <a:ea typeface="Calibri" pitchFamily="34" charset="-122"/>
                <a:cs typeface="Calibri" pitchFamily="34" charset="-120"/>
              </a:rPr>
              <a:t>Each row sends 4 key-value pairs (zone, train type, hour, cause): 6,000,000 map output records.</a:t>
            </a:r>
            <a:endParaRPr lang="en-US" sz="1150" dirty="0"/>
          </a:p>
        </p:txBody>
      </p:sp>
      <p:sp>
        <p:nvSpPr>
          <p:cNvPr id="15" name="Shape 12"/>
          <p:cNvSpPr/>
          <p:nvPr/>
        </p:nvSpPr>
        <p:spPr>
          <a:xfrm>
            <a:off x="1051560" y="2788920"/>
            <a:ext cx="4343400" cy="603504"/>
          </a:xfrm>
          <a:prstGeom prst="roundRect">
            <a:avLst>
              <a:gd name="adj" fmla="val 9091"/>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16" name="Text 13"/>
          <p:cNvSpPr txBox="1"/>
          <p:nvPr/>
        </p:nvSpPr>
        <p:spPr>
          <a:xfrm>
            <a:off x="557784" y="2916936"/>
            <a:ext cx="347472" cy="34747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1188720" y="2825496"/>
            <a:ext cx="4114800" cy="530352"/>
          </a:xfrm>
          <a:prstGeom prst="rect">
            <a:avLst/>
          </a:prstGeom>
          <a:noFill/>
          <a:ln/>
        </p:spPr>
        <p:txBody>
          <a:bodyPr wrap="square" lIns="0" tIns="0" rIns="0" bIns="0" rtlCol="0" anchor="ctr"/>
          <a:lstStyle/>
          <a:p>
            <a:pPr marL="0" indent="0">
              <a:buNone/>
            </a:pPr>
            <a:r>
              <a:rPr lang="en-US" sz="1250" b="1" dirty="0">
                <a:solidFill>
                  <a:schemeClr val="accent1"/>
                </a:solidFill>
                <a:latin typeface="Calibri" pitchFamily="34" charset="0"/>
                <a:ea typeface="Calibri" pitchFamily="34" charset="-122"/>
                <a:cs typeface="Calibri" pitchFamily="34" charset="-120"/>
              </a:rPr>
              <a:t>Shuffle  </a:t>
            </a:r>
            <a:r>
              <a:rPr lang="en-US" sz="1150" dirty="0">
                <a:solidFill>
                  <a:schemeClr val="tx1"/>
                </a:solidFill>
                <a:latin typeface="Calibri" pitchFamily="34" charset="0"/>
                <a:ea typeface="Calibri" pitchFamily="34" charset="-122"/>
                <a:cs typeface="Calibri" pitchFamily="34" charset="-120"/>
              </a:rPr>
              <a:t>Groups the values by key. There are 70 unique keys.</a:t>
            </a:r>
            <a:endParaRPr lang="en-US" sz="1150" dirty="0"/>
          </a:p>
        </p:txBody>
      </p:sp>
      <p:sp>
        <p:nvSpPr>
          <p:cNvPr id="18" name="Shape 15"/>
          <p:cNvSpPr/>
          <p:nvPr/>
        </p:nvSpPr>
        <p:spPr>
          <a:xfrm>
            <a:off x="1051560" y="3474720"/>
            <a:ext cx="4343400" cy="603504"/>
          </a:xfrm>
          <a:prstGeom prst="roundRect">
            <a:avLst>
              <a:gd name="adj" fmla="val 9091"/>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19" name="Text 16"/>
          <p:cNvSpPr txBox="1"/>
          <p:nvPr/>
        </p:nvSpPr>
        <p:spPr>
          <a:xfrm>
            <a:off x="557784" y="3602736"/>
            <a:ext cx="347472" cy="34747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1188720" y="3511296"/>
            <a:ext cx="4114800" cy="530352"/>
          </a:xfrm>
          <a:prstGeom prst="rect">
            <a:avLst/>
          </a:prstGeom>
          <a:noFill/>
          <a:ln/>
        </p:spPr>
        <p:txBody>
          <a:bodyPr wrap="square" lIns="0" tIns="0" rIns="0" bIns="0" rtlCol="0" anchor="ctr"/>
          <a:lstStyle/>
          <a:p>
            <a:pPr marL="0" indent="0">
              <a:buNone/>
            </a:pPr>
            <a:r>
              <a:rPr lang="en-US" sz="1250" b="1" dirty="0">
                <a:solidFill>
                  <a:schemeClr val="accent1"/>
                </a:solidFill>
                <a:latin typeface="Calibri" pitchFamily="34" charset="0"/>
                <a:ea typeface="Calibri" pitchFamily="34" charset="-122"/>
                <a:cs typeface="Calibri" pitchFamily="34" charset="-120"/>
              </a:rPr>
              <a:t>Reduce  </a:t>
            </a:r>
            <a:r>
              <a:rPr lang="en-US" sz="1150" dirty="0">
                <a:solidFill>
                  <a:schemeClr val="tx1"/>
                </a:solidFill>
                <a:latin typeface="Calibri" pitchFamily="34" charset="0"/>
                <a:ea typeface="Calibri" pitchFamily="34" charset="-122"/>
                <a:cs typeface="Calibri" pitchFamily="34" charset="-120"/>
              </a:rPr>
              <a:t>Adds up journeys and delay minutes, then calculates delay rate and averages.</a:t>
            </a:r>
            <a:endParaRPr lang="en-US" sz="1150" dirty="0"/>
          </a:p>
        </p:txBody>
      </p:sp>
      <p:sp>
        <p:nvSpPr>
          <p:cNvPr id="21" name="Shape 18"/>
          <p:cNvSpPr/>
          <p:nvPr/>
        </p:nvSpPr>
        <p:spPr>
          <a:xfrm>
            <a:off x="457200" y="4206240"/>
            <a:ext cx="4937760" cy="411480"/>
          </a:xfrm>
          <a:prstGeom prst="roundRect">
            <a:avLst>
              <a:gd name="adj" fmla="val 13333"/>
            </a:avLst>
          </a:prstGeom>
          <a:solidFill>
            <a:schemeClr val="tx2"/>
          </a:solidFill>
          <a:ln w="9525">
            <a:solidFill>
              <a:schemeClr val="accent6"/>
            </a:solidFill>
            <a:prstDash val="solid"/>
          </a:ln>
        </p:spPr>
      </p:sp>
      <p:sp>
        <p:nvSpPr>
          <p:cNvPr id="22" name="Text 19"/>
          <p:cNvSpPr txBox="1"/>
          <p:nvPr/>
        </p:nvSpPr>
        <p:spPr>
          <a:xfrm>
            <a:off x="457200" y="4206240"/>
            <a:ext cx="4937760" cy="411480"/>
          </a:xfrm>
          <a:prstGeom prst="rect">
            <a:avLst/>
          </a:prstGeom>
          <a:noFill/>
          <a:ln/>
        </p:spPr>
        <p:txBody>
          <a:bodyPr wrap="square" lIns="0" tIns="0" rIns="0" bIns="0" rtlCol="0" anchor="ctr"/>
          <a:lstStyle/>
          <a:p>
            <a:pPr marL="0" indent="0" algn="ctr">
              <a:buNone/>
            </a:pPr>
            <a:r>
              <a:rPr lang="en-US" sz="1250" b="1" dirty="0">
                <a:solidFill>
                  <a:schemeClr val="bg1"/>
                </a:solidFill>
                <a:latin typeface="Calibri" pitchFamily="34" charset="0"/>
                <a:ea typeface="Calibri" pitchFamily="34" charset="-122"/>
                <a:cs typeface="Calibri" pitchFamily="34" charset="-120"/>
              </a:rPr>
              <a:t>16 zones  +  15 train types  +  24 hours  +  15 causes  =  70</a:t>
            </a:r>
            <a:endParaRPr lang="en-US" sz="1250" dirty="0"/>
          </a:p>
        </p:txBody>
      </p:sp>
      <p:sp>
        <p:nvSpPr>
          <p:cNvPr id="23" name="Shape 20"/>
          <p:cNvSpPr/>
          <p:nvPr/>
        </p:nvSpPr>
        <p:spPr>
          <a:xfrm>
            <a:off x="5623560" y="1005840"/>
            <a:ext cx="3108960" cy="3456432"/>
          </a:xfrm>
          <a:prstGeom prst="roundRect">
            <a:avLst>
              <a:gd name="adj" fmla="val 1765"/>
            </a:avLst>
          </a:prstGeom>
          <a:solidFill>
            <a:srgbClr val="0C0C0C"/>
          </a:solidFill>
          <a:ln w="9525">
            <a:solidFill>
              <a:schemeClr val="accent3"/>
            </a:solidFill>
            <a:prstDash val="solid"/>
          </a:ln>
          <a:effectLst>
            <a:outerShdw blurRad="76200" dist="19050" dir="5400000" algn="bl" rotWithShape="0">
              <a:srgbClr val="0B1F3A">
                <a:alpha val="12000"/>
              </a:srgbClr>
            </a:outerShdw>
          </a:effectLst>
        </p:spPr>
      </p:sp>
      <p:pic>
        <p:nvPicPr>
          <p:cNvPr id="24" name="Image 0" descr="Hadoop console job counters: map input records 1500001, map output records 6000000, reduce input groups 70, reduce output records 70"/>
          <p:cNvPicPr>
            <a:picLocks noChangeAspect="1"/>
          </p:cNvPicPr>
          <p:nvPr/>
        </p:nvPicPr>
        <p:blipFill>
          <a:blip r:embed="rId3"/>
          <a:stretch>
            <a:fillRect/>
          </a:stretch>
        </p:blipFill>
        <p:spPr>
          <a:xfrm>
            <a:off x="5669280" y="1051560"/>
            <a:ext cx="3017520" cy="3383280"/>
          </a:xfrm>
          <a:prstGeom prst="rect">
            <a:avLst/>
          </a:prstGeom>
        </p:spPr>
      </p:pic>
      <p:sp>
        <p:nvSpPr>
          <p:cNvPr id="25" name="Text 21"/>
          <p:cNvSpPr txBox="1"/>
          <p:nvPr/>
        </p:nvSpPr>
        <p:spPr>
          <a:xfrm>
            <a:off x="5623560" y="4498848"/>
            <a:ext cx="3108960" cy="182880"/>
          </a:xfrm>
          <a:prstGeom prst="rect">
            <a:avLst/>
          </a:prstGeom>
          <a:noFill/>
          <a:ln/>
        </p:spPr>
        <p:txBody>
          <a:bodyPr wrap="square" lIns="0" tIns="0" rIns="0" bIns="0" rtlCol="0" anchor="t"/>
          <a:lstStyle/>
          <a:p>
            <a:pPr marL="0" indent="0">
              <a:buNone/>
            </a:pPr>
            <a:r>
              <a:rPr lang="en-US" sz="1000" i="1" dirty="0">
                <a:solidFill>
                  <a:schemeClr val="accent6"/>
                </a:solidFill>
                <a:latin typeface="Calibri" pitchFamily="34" charset="0"/>
                <a:ea typeface="Calibri" pitchFamily="34" charset="-122"/>
                <a:cs typeface="Calibri" pitchFamily="34" charset="-120"/>
              </a:rPr>
              <a:t>Actual job counters from the Hadoop console</a:t>
            </a:r>
            <a:endParaRPr lang="en-US" sz="1000" dirty="0"/>
          </a:p>
        </p:txBody>
      </p:sp>
      <p:sp>
        <p:nvSpPr>
          <p:cNvPr id="26" name="Current station marker"/>
          <p:cNvSpPr/>
          <p:nvPr/>
        </p:nvSpPr>
        <p:spPr>
          <a:xfrm>
            <a:off x="4594860"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07  |  CASSANDRA</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Storing Results in Cassandra</a:t>
            </a:r>
            <a:endParaRPr lang="en-US" sz="2400" dirty="0"/>
          </a:p>
        </p:txBody>
      </p:sp>
      <p:sp>
        <p:nvSpPr>
          <p:cNvPr id="5" name="Shape 2"/>
          <p:cNvSpPr/>
          <p:nvPr/>
        </p:nvSpPr>
        <p:spPr>
          <a:xfrm>
            <a:off x="457200" y="1051560"/>
            <a:ext cx="4114800" cy="1828800"/>
          </a:xfrm>
          <a:prstGeom prst="roundRect">
            <a:avLst>
              <a:gd name="adj" fmla="val 3000"/>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6" name="Text 3"/>
          <p:cNvSpPr txBox="1"/>
          <p:nvPr/>
        </p:nvSpPr>
        <p:spPr>
          <a:xfrm>
            <a:off x="640080" y="1133856"/>
            <a:ext cx="2743200" cy="256032"/>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Table design</a:t>
            </a:r>
            <a:endParaRPr lang="en-US" sz="1400" dirty="0"/>
          </a:p>
        </p:txBody>
      </p:sp>
      <p:sp>
        <p:nvSpPr>
          <p:cNvPr id="7" name="Text 4"/>
          <p:cNvSpPr txBox="1"/>
          <p:nvPr/>
        </p:nvSpPr>
        <p:spPr>
          <a:xfrm>
            <a:off x="640080" y="1444752"/>
            <a:ext cx="1097280" cy="237744"/>
          </a:xfrm>
          <a:prstGeom prst="rect">
            <a:avLst/>
          </a:prstGeom>
          <a:noFill/>
          <a:ln/>
        </p:spPr>
        <p:txBody>
          <a:bodyPr wrap="square" lIns="0" tIns="0" rIns="0" bIns="0" rtlCol="0" anchor="ctr"/>
          <a:lstStyle/>
          <a:p>
            <a:pPr marL="0" indent="0">
              <a:buNone/>
            </a:pPr>
            <a:r>
              <a:rPr lang="en-US" sz="1050" dirty="0">
                <a:solidFill>
                  <a:schemeClr val="accent6"/>
                </a:solidFill>
                <a:latin typeface="Calibri" pitchFamily="34" charset="0"/>
                <a:ea typeface="Calibri" pitchFamily="34" charset="-122"/>
                <a:cs typeface="Calibri" pitchFamily="34" charset="-120"/>
              </a:rPr>
              <a:t>Keyspace</a:t>
            </a:r>
            <a:endParaRPr lang="en-US" sz="1050" dirty="0"/>
          </a:p>
        </p:txBody>
      </p:sp>
      <p:sp>
        <p:nvSpPr>
          <p:cNvPr id="8" name="Text 5"/>
          <p:cNvSpPr txBox="1"/>
          <p:nvPr/>
        </p:nvSpPr>
        <p:spPr>
          <a:xfrm>
            <a:off x="1783080" y="1444752"/>
            <a:ext cx="2697480" cy="237744"/>
          </a:xfrm>
          <a:prstGeom prst="rect">
            <a:avLst/>
          </a:prstGeom>
          <a:noFill/>
          <a:ln/>
        </p:spPr>
        <p:txBody>
          <a:bodyPr wrap="square" lIns="0" tIns="0" rIns="0" bIns="0" rtlCol="0" anchor="ctr"/>
          <a:lstStyle/>
          <a:p>
            <a:pPr marL="0" indent="0">
              <a:buNone/>
            </a:pPr>
            <a:r>
              <a:rPr lang="en-US" sz="1050" b="1" dirty="0">
                <a:solidFill>
                  <a:schemeClr val="tx1"/>
                </a:solidFill>
                <a:latin typeface="Courier New" pitchFamily="34" charset="0"/>
                <a:ea typeface="Courier New" pitchFamily="34" charset="-122"/>
                <a:cs typeface="Courier New" pitchFamily="34" charset="-120"/>
              </a:rPr>
              <a:t>transport_analysis</a:t>
            </a:r>
            <a:endParaRPr lang="en-US" sz="1050" dirty="0"/>
          </a:p>
        </p:txBody>
      </p:sp>
      <p:sp>
        <p:nvSpPr>
          <p:cNvPr id="9" name="Shape 6"/>
          <p:cNvSpPr/>
          <p:nvPr/>
        </p:nvSpPr>
        <p:spPr>
          <a:xfrm>
            <a:off x="640080" y="1700784"/>
            <a:ext cx="3749040" cy="0"/>
          </a:xfrm>
          <a:prstGeom prst="line">
            <a:avLst/>
          </a:prstGeom>
          <a:noFill/>
          <a:ln w="6350">
            <a:solidFill>
              <a:srgbClr val="D5DCE3"/>
            </a:solidFill>
            <a:prstDash val="solid"/>
          </a:ln>
        </p:spPr>
      </p:sp>
      <p:sp>
        <p:nvSpPr>
          <p:cNvPr id="10" name="Text 7"/>
          <p:cNvSpPr txBox="1"/>
          <p:nvPr/>
        </p:nvSpPr>
        <p:spPr>
          <a:xfrm>
            <a:off x="640080" y="1719072"/>
            <a:ext cx="1097280" cy="237744"/>
          </a:xfrm>
          <a:prstGeom prst="rect">
            <a:avLst/>
          </a:prstGeom>
          <a:noFill/>
          <a:ln/>
        </p:spPr>
        <p:txBody>
          <a:bodyPr wrap="square" lIns="0" tIns="0" rIns="0" bIns="0" rtlCol="0" anchor="ctr"/>
          <a:lstStyle/>
          <a:p>
            <a:pPr marL="0" indent="0">
              <a:buNone/>
            </a:pPr>
            <a:r>
              <a:rPr lang="en-US" sz="1050" dirty="0">
                <a:solidFill>
                  <a:schemeClr val="accent6"/>
                </a:solidFill>
                <a:latin typeface="Calibri" pitchFamily="34" charset="0"/>
                <a:ea typeface="Calibri" pitchFamily="34" charset="-122"/>
                <a:cs typeface="Calibri" pitchFamily="34" charset="-120"/>
              </a:rPr>
              <a:t>Table</a:t>
            </a:r>
            <a:endParaRPr lang="en-US" sz="1050" dirty="0"/>
          </a:p>
        </p:txBody>
      </p:sp>
      <p:sp>
        <p:nvSpPr>
          <p:cNvPr id="11" name="Text 8"/>
          <p:cNvSpPr txBox="1"/>
          <p:nvPr/>
        </p:nvSpPr>
        <p:spPr>
          <a:xfrm>
            <a:off x="1783080" y="1719072"/>
            <a:ext cx="2697480" cy="237744"/>
          </a:xfrm>
          <a:prstGeom prst="rect">
            <a:avLst/>
          </a:prstGeom>
          <a:noFill/>
          <a:ln/>
        </p:spPr>
        <p:txBody>
          <a:bodyPr wrap="square" lIns="0" tIns="0" rIns="0" bIns="0" rtlCol="0" anchor="ctr"/>
          <a:lstStyle/>
          <a:p>
            <a:pPr marL="0" indent="0">
              <a:buNone/>
            </a:pPr>
            <a:r>
              <a:rPr lang="en-US" sz="1050" b="1" dirty="0">
                <a:solidFill>
                  <a:schemeClr val="tx1"/>
                </a:solidFill>
                <a:latin typeface="Courier New" pitchFamily="34" charset="0"/>
                <a:ea typeface="Courier New" pitchFamily="34" charset="-122"/>
                <a:cs typeface="Courier New" pitchFamily="34" charset="-120"/>
              </a:rPr>
              <a:t>delay_summary</a:t>
            </a:r>
            <a:endParaRPr lang="en-US" sz="1050" dirty="0"/>
          </a:p>
        </p:txBody>
      </p:sp>
      <p:sp>
        <p:nvSpPr>
          <p:cNvPr id="12" name="Shape 9"/>
          <p:cNvSpPr/>
          <p:nvPr/>
        </p:nvSpPr>
        <p:spPr>
          <a:xfrm>
            <a:off x="640080" y="1975104"/>
            <a:ext cx="3749040" cy="0"/>
          </a:xfrm>
          <a:prstGeom prst="line">
            <a:avLst/>
          </a:prstGeom>
          <a:noFill/>
          <a:ln w="6350">
            <a:solidFill>
              <a:srgbClr val="D5DCE3"/>
            </a:solidFill>
            <a:prstDash val="solid"/>
          </a:ln>
        </p:spPr>
      </p:sp>
      <p:sp>
        <p:nvSpPr>
          <p:cNvPr id="13" name="Text 10"/>
          <p:cNvSpPr txBox="1"/>
          <p:nvPr/>
        </p:nvSpPr>
        <p:spPr>
          <a:xfrm>
            <a:off x="640080" y="1993392"/>
            <a:ext cx="1097280" cy="237744"/>
          </a:xfrm>
          <a:prstGeom prst="rect">
            <a:avLst/>
          </a:prstGeom>
          <a:noFill/>
          <a:ln/>
        </p:spPr>
        <p:txBody>
          <a:bodyPr wrap="square" lIns="0" tIns="0" rIns="0" bIns="0" rtlCol="0" anchor="ctr"/>
          <a:lstStyle/>
          <a:p>
            <a:pPr marL="0" indent="0">
              <a:buNone/>
            </a:pPr>
            <a:r>
              <a:rPr lang="en-US" sz="1050" dirty="0">
                <a:solidFill>
                  <a:schemeClr val="accent6"/>
                </a:solidFill>
                <a:latin typeface="Calibri" pitchFamily="34" charset="0"/>
                <a:ea typeface="Calibri" pitchFamily="34" charset="-122"/>
                <a:cs typeface="Calibri" pitchFamily="34" charset="-120"/>
              </a:rPr>
              <a:t>Primary key</a:t>
            </a:r>
            <a:endParaRPr lang="en-US" sz="1050" dirty="0"/>
          </a:p>
        </p:txBody>
      </p:sp>
      <p:sp>
        <p:nvSpPr>
          <p:cNvPr id="14" name="Text 11"/>
          <p:cNvSpPr txBox="1"/>
          <p:nvPr/>
        </p:nvSpPr>
        <p:spPr>
          <a:xfrm>
            <a:off x="1783080" y="1993392"/>
            <a:ext cx="2697480" cy="237744"/>
          </a:xfrm>
          <a:prstGeom prst="rect">
            <a:avLst/>
          </a:prstGeom>
          <a:noFill/>
          <a:ln/>
        </p:spPr>
        <p:txBody>
          <a:bodyPr wrap="square" lIns="0" tIns="0" rIns="0" bIns="0" rtlCol="0" anchor="ctr"/>
          <a:lstStyle/>
          <a:p>
            <a:pPr marL="0" indent="0">
              <a:buNone/>
            </a:pPr>
            <a:r>
              <a:rPr lang="en-US" sz="1050" b="1" dirty="0">
                <a:solidFill>
                  <a:schemeClr val="tx1"/>
                </a:solidFill>
                <a:latin typeface="Courier New" pitchFamily="34" charset="0"/>
                <a:ea typeface="Courier New" pitchFamily="34" charset="-122"/>
                <a:cs typeface="Courier New" pitchFamily="34" charset="-120"/>
              </a:rPr>
              <a:t>category, category_name</a:t>
            </a:r>
            <a:endParaRPr lang="en-US" sz="1050" dirty="0"/>
          </a:p>
        </p:txBody>
      </p:sp>
      <p:sp>
        <p:nvSpPr>
          <p:cNvPr id="15" name="Shape 12"/>
          <p:cNvSpPr/>
          <p:nvPr/>
        </p:nvSpPr>
        <p:spPr>
          <a:xfrm>
            <a:off x="640080" y="2249424"/>
            <a:ext cx="3749040" cy="0"/>
          </a:xfrm>
          <a:prstGeom prst="line">
            <a:avLst/>
          </a:prstGeom>
          <a:noFill/>
          <a:ln w="6350">
            <a:solidFill>
              <a:srgbClr val="D5DCE3"/>
            </a:solidFill>
            <a:prstDash val="solid"/>
          </a:ln>
        </p:spPr>
      </p:sp>
      <p:sp>
        <p:nvSpPr>
          <p:cNvPr id="16" name="Text 13"/>
          <p:cNvSpPr txBox="1"/>
          <p:nvPr/>
        </p:nvSpPr>
        <p:spPr>
          <a:xfrm>
            <a:off x="640080" y="2267712"/>
            <a:ext cx="1097280" cy="237744"/>
          </a:xfrm>
          <a:prstGeom prst="rect">
            <a:avLst/>
          </a:prstGeom>
          <a:noFill/>
          <a:ln/>
        </p:spPr>
        <p:txBody>
          <a:bodyPr wrap="square" lIns="0" tIns="0" rIns="0" bIns="0" rtlCol="0" anchor="ctr"/>
          <a:lstStyle/>
          <a:p>
            <a:pPr marL="0" indent="0">
              <a:buNone/>
            </a:pPr>
            <a:r>
              <a:rPr lang="en-US" sz="1050" dirty="0">
                <a:solidFill>
                  <a:schemeClr val="accent6"/>
                </a:solidFill>
                <a:latin typeface="Calibri" pitchFamily="34" charset="0"/>
                <a:ea typeface="Calibri" pitchFamily="34" charset="-122"/>
                <a:cs typeface="Calibri" pitchFamily="34" charset="-120"/>
              </a:rPr>
              <a:t>Replication</a:t>
            </a:r>
            <a:endParaRPr lang="en-US" sz="1050" dirty="0"/>
          </a:p>
        </p:txBody>
      </p:sp>
      <p:sp>
        <p:nvSpPr>
          <p:cNvPr id="17" name="Text 14"/>
          <p:cNvSpPr txBox="1"/>
          <p:nvPr/>
        </p:nvSpPr>
        <p:spPr>
          <a:xfrm>
            <a:off x="1783080" y="2267712"/>
            <a:ext cx="2697480" cy="237744"/>
          </a:xfrm>
          <a:prstGeom prst="rect">
            <a:avLst/>
          </a:prstGeom>
          <a:noFill/>
          <a:ln/>
        </p:spPr>
        <p:txBody>
          <a:bodyPr wrap="square" lIns="0" tIns="0" rIns="0" bIns="0" rtlCol="0" anchor="ctr"/>
          <a:lstStyle/>
          <a:p>
            <a:pPr marL="0" indent="0">
              <a:buNone/>
            </a:pPr>
            <a:r>
              <a:rPr lang="en-US" sz="1050" b="1" dirty="0">
                <a:solidFill>
                  <a:schemeClr val="tx1"/>
                </a:solidFill>
                <a:latin typeface="Courier New" pitchFamily="34" charset="0"/>
                <a:ea typeface="Courier New" pitchFamily="34" charset="-122"/>
                <a:cs typeface="Courier New" pitchFamily="34" charset="-120"/>
              </a:rPr>
              <a:t>SimpleStrategy, factor 1</a:t>
            </a:r>
            <a:endParaRPr lang="en-US" sz="1050" dirty="0"/>
          </a:p>
        </p:txBody>
      </p:sp>
      <p:sp>
        <p:nvSpPr>
          <p:cNvPr id="18" name="Shape 15"/>
          <p:cNvSpPr/>
          <p:nvPr/>
        </p:nvSpPr>
        <p:spPr>
          <a:xfrm>
            <a:off x="640080" y="2523744"/>
            <a:ext cx="3749040" cy="0"/>
          </a:xfrm>
          <a:prstGeom prst="line">
            <a:avLst/>
          </a:prstGeom>
          <a:noFill/>
          <a:ln w="6350">
            <a:solidFill>
              <a:srgbClr val="D5DCE3"/>
            </a:solidFill>
            <a:prstDash val="solid"/>
          </a:ln>
        </p:spPr>
      </p:sp>
      <p:sp>
        <p:nvSpPr>
          <p:cNvPr id="19" name="Text 16"/>
          <p:cNvSpPr txBox="1"/>
          <p:nvPr/>
        </p:nvSpPr>
        <p:spPr>
          <a:xfrm>
            <a:off x="640080" y="2542032"/>
            <a:ext cx="1097280" cy="237744"/>
          </a:xfrm>
          <a:prstGeom prst="rect">
            <a:avLst/>
          </a:prstGeom>
          <a:noFill/>
          <a:ln/>
        </p:spPr>
        <p:txBody>
          <a:bodyPr wrap="square" lIns="0" tIns="0" rIns="0" bIns="0" rtlCol="0" anchor="ctr"/>
          <a:lstStyle/>
          <a:p>
            <a:pPr marL="0" indent="0">
              <a:buNone/>
            </a:pPr>
            <a:r>
              <a:rPr lang="en-US" sz="1050" dirty="0">
                <a:solidFill>
                  <a:schemeClr val="accent6"/>
                </a:solidFill>
                <a:latin typeface="Calibri" pitchFamily="34" charset="0"/>
                <a:ea typeface="Calibri" pitchFamily="34" charset="-122"/>
                <a:cs typeface="Calibri" pitchFamily="34" charset="-120"/>
              </a:rPr>
              <a:t>Loaded by</a:t>
            </a:r>
            <a:endParaRPr lang="en-US" sz="1050" dirty="0"/>
          </a:p>
        </p:txBody>
      </p:sp>
      <p:sp>
        <p:nvSpPr>
          <p:cNvPr id="20" name="Text 17"/>
          <p:cNvSpPr txBox="1"/>
          <p:nvPr/>
        </p:nvSpPr>
        <p:spPr>
          <a:xfrm>
            <a:off x="1783080" y="2542032"/>
            <a:ext cx="2697480" cy="237744"/>
          </a:xfrm>
          <a:prstGeom prst="rect">
            <a:avLst/>
          </a:prstGeom>
          <a:noFill/>
          <a:ln/>
        </p:spPr>
        <p:txBody>
          <a:bodyPr wrap="square" lIns="0" tIns="0" rIns="0" bIns="0" rtlCol="0" anchor="ctr"/>
          <a:lstStyle/>
          <a:p>
            <a:pPr marL="0" indent="0">
              <a:buNone/>
            </a:pPr>
            <a:r>
              <a:rPr lang="en-US" sz="1050" b="1" dirty="0">
                <a:solidFill>
                  <a:schemeClr val="tx1"/>
                </a:solidFill>
                <a:latin typeface="Courier New" pitchFamily="34" charset="0"/>
                <a:ea typeface="Courier New" pitchFamily="34" charset="-122"/>
                <a:cs typeface="Courier New" pitchFamily="34" charset="-120"/>
              </a:rPr>
              <a:t>load_to_cassandra.py</a:t>
            </a:r>
            <a:endParaRPr lang="en-US" sz="1050" dirty="0"/>
          </a:p>
        </p:txBody>
      </p:sp>
      <p:sp>
        <p:nvSpPr>
          <p:cNvPr id="21" name="Shape 18"/>
          <p:cNvSpPr/>
          <p:nvPr/>
        </p:nvSpPr>
        <p:spPr>
          <a:xfrm>
            <a:off x="457200" y="2999232"/>
            <a:ext cx="4114800" cy="1618488"/>
          </a:xfrm>
          <a:prstGeom prst="roundRect">
            <a:avLst>
              <a:gd name="adj" fmla="val 3390"/>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22" name="Text 19"/>
          <p:cNvSpPr txBox="1"/>
          <p:nvPr/>
        </p:nvSpPr>
        <p:spPr>
          <a:xfrm>
            <a:off x="640080" y="3063240"/>
            <a:ext cx="2743200" cy="237744"/>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Columns</a:t>
            </a:r>
            <a:endParaRPr lang="en-US" sz="1400" dirty="0"/>
          </a:p>
        </p:txBody>
      </p:sp>
      <p:sp>
        <p:nvSpPr>
          <p:cNvPr id="23" name="Shape 20"/>
          <p:cNvSpPr/>
          <p:nvPr/>
        </p:nvSpPr>
        <p:spPr>
          <a:xfrm>
            <a:off x="640080" y="3355848"/>
            <a:ext cx="793699" cy="228600"/>
          </a:xfrm>
          <a:prstGeom prst="roundRect">
            <a:avLst>
              <a:gd name="adj" fmla="val 20000"/>
            </a:avLst>
          </a:prstGeom>
          <a:solidFill>
            <a:schemeClr val="bg2"/>
          </a:solidFill>
          <a:ln w="6350">
            <a:solidFill>
              <a:srgbClr val="C9D1D9"/>
            </a:solidFill>
            <a:prstDash val="solid"/>
          </a:ln>
        </p:spPr>
      </p:sp>
      <p:sp>
        <p:nvSpPr>
          <p:cNvPr id="24" name="Text 21"/>
          <p:cNvSpPr txBox="1"/>
          <p:nvPr/>
        </p:nvSpPr>
        <p:spPr>
          <a:xfrm>
            <a:off x="640080" y="3355848"/>
            <a:ext cx="793699"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category</a:t>
            </a:r>
            <a:endParaRPr lang="en-US" sz="1000" dirty="0"/>
          </a:p>
        </p:txBody>
      </p:sp>
      <p:sp>
        <p:nvSpPr>
          <p:cNvPr id="25" name="Shape 22"/>
          <p:cNvSpPr/>
          <p:nvPr/>
        </p:nvSpPr>
        <p:spPr>
          <a:xfrm>
            <a:off x="1525219" y="3355848"/>
            <a:ext cx="1175461" cy="228600"/>
          </a:xfrm>
          <a:prstGeom prst="roundRect">
            <a:avLst>
              <a:gd name="adj" fmla="val 20000"/>
            </a:avLst>
          </a:prstGeom>
          <a:solidFill>
            <a:schemeClr val="bg2"/>
          </a:solidFill>
          <a:ln w="6350">
            <a:solidFill>
              <a:srgbClr val="C9D1D9"/>
            </a:solidFill>
            <a:prstDash val="solid"/>
          </a:ln>
        </p:spPr>
      </p:sp>
      <p:sp>
        <p:nvSpPr>
          <p:cNvPr id="26" name="Text 23"/>
          <p:cNvSpPr txBox="1"/>
          <p:nvPr/>
        </p:nvSpPr>
        <p:spPr>
          <a:xfrm>
            <a:off x="1525219" y="3355848"/>
            <a:ext cx="1175461"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category_name</a:t>
            </a:r>
            <a:endParaRPr lang="en-US" sz="1000" dirty="0"/>
          </a:p>
        </p:txBody>
      </p:sp>
      <p:sp>
        <p:nvSpPr>
          <p:cNvPr id="27" name="Shape 24"/>
          <p:cNvSpPr/>
          <p:nvPr/>
        </p:nvSpPr>
        <p:spPr>
          <a:xfrm>
            <a:off x="2792120" y="3355848"/>
            <a:ext cx="1251814" cy="228600"/>
          </a:xfrm>
          <a:prstGeom prst="roundRect">
            <a:avLst>
              <a:gd name="adj" fmla="val 20000"/>
            </a:avLst>
          </a:prstGeom>
          <a:solidFill>
            <a:schemeClr val="bg2"/>
          </a:solidFill>
          <a:ln w="6350">
            <a:solidFill>
              <a:srgbClr val="C9D1D9"/>
            </a:solidFill>
            <a:prstDash val="solid"/>
          </a:ln>
        </p:spPr>
      </p:sp>
      <p:sp>
        <p:nvSpPr>
          <p:cNvPr id="28" name="Text 25"/>
          <p:cNvSpPr txBox="1"/>
          <p:nvPr/>
        </p:nvSpPr>
        <p:spPr>
          <a:xfrm>
            <a:off x="2792120" y="3355848"/>
            <a:ext cx="1251814"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total_journeys</a:t>
            </a:r>
            <a:endParaRPr lang="en-US" sz="1000" dirty="0"/>
          </a:p>
        </p:txBody>
      </p:sp>
      <p:sp>
        <p:nvSpPr>
          <p:cNvPr id="29" name="Shape 26"/>
          <p:cNvSpPr/>
          <p:nvPr/>
        </p:nvSpPr>
        <p:spPr>
          <a:xfrm>
            <a:off x="640080" y="3639312"/>
            <a:ext cx="1404518" cy="228600"/>
          </a:xfrm>
          <a:prstGeom prst="roundRect">
            <a:avLst>
              <a:gd name="adj" fmla="val 20000"/>
            </a:avLst>
          </a:prstGeom>
          <a:solidFill>
            <a:schemeClr val="bg2"/>
          </a:solidFill>
          <a:ln w="6350">
            <a:solidFill>
              <a:srgbClr val="C9D1D9"/>
            </a:solidFill>
            <a:prstDash val="solid"/>
          </a:ln>
        </p:spPr>
      </p:sp>
      <p:sp>
        <p:nvSpPr>
          <p:cNvPr id="30" name="Text 27"/>
          <p:cNvSpPr txBox="1"/>
          <p:nvPr/>
        </p:nvSpPr>
        <p:spPr>
          <a:xfrm>
            <a:off x="640080" y="3639312"/>
            <a:ext cx="1404518"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delayed_journeys</a:t>
            </a:r>
            <a:endParaRPr lang="en-US" sz="1000" dirty="0"/>
          </a:p>
        </p:txBody>
      </p:sp>
      <p:sp>
        <p:nvSpPr>
          <p:cNvPr id="31" name="Shape 28"/>
          <p:cNvSpPr/>
          <p:nvPr/>
        </p:nvSpPr>
        <p:spPr>
          <a:xfrm>
            <a:off x="2136038" y="3639312"/>
            <a:ext cx="946404" cy="228600"/>
          </a:xfrm>
          <a:prstGeom prst="roundRect">
            <a:avLst>
              <a:gd name="adj" fmla="val 20000"/>
            </a:avLst>
          </a:prstGeom>
          <a:solidFill>
            <a:schemeClr val="bg2"/>
          </a:solidFill>
          <a:ln w="6350">
            <a:solidFill>
              <a:srgbClr val="C9D1D9"/>
            </a:solidFill>
            <a:prstDash val="solid"/>
          </a:ln>
        </p:spPr>
      </p:sp>
      <p:sp>
        <p:nvSpPr>
          <p:cNvPr id="32" name="Text 29"/>
          <p:cNvSpPr txBox="1"/>
          <p:nvPr/>
        </p:nvSpPr>
        <p:spPr>
          <a:xfrm>
            <a:off x="2136038" y="3639312"/>
            <a:ext cx="946404"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delay_rate</a:t>
            </a:r>
            <a:endParaRPr lang="en-US" sz="1000" dirty="0"/>
          </a:p>
        </p:txBody>
      </p:sp>
      <p:sp>
        <p:nvSpPr>
          <p:cNvPr id="33" name="Shape 30"/>
          <p:cNvSpPr/>
          <p:nvPr/>
        </p:nvSpPr>
        <p:spPr>
          <a:xfrm>
            <a:off x="3173882" y="3639312"/>
            <a:ext cx="1175461" cy="228600"/>
          </a:xfrm>
          <a:prstGeom prst="roundRect">
            <a:avLst>
              <a:gd name="adj" fmla="val 20000"/>
            </a:avLst>
          </a:prstGeom>
          <a:solidFill>
            <a:schemeClr val="bg2"/>
          </a:solidFill>
          <a:ln w="6350">
            <a:solidFill>
              <a:srgbClr val="C9D1D9"/>
            </a:solidFill>
            <a:prstDash val="solid"/>
          </a:ln>
        </p:spPr>
      </p:sp>
      <p:sp>
        <p:nvSpPr>
          <p:cNvPr id="34" name="Text 31"/>
          <p:cNvSpPr txBox="1"/>
          <p:nvPr/>
        </p:nvSpPr>
        <p:spPr>
          <a:xfrm>
            <a:off x="3173882" y="3639312"/>
            <a:ext cx="1175461"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avg_delay_all</a:t>
            </a:r>
            <a:endParaRPr lang="en-US" sz="1000" dirty="0"/>
          </a:p>
        </p:txBody>
      </p:sp>
      <p:sp>
        <p:nvSpPr>
          <p:cNvPr id="35" name="Shape 32"/>
          <p:cNvSpPr/>
          <p:nvPr/>
        </p:nvSpPr>
        <p:spPr>
          <a:xfrm>
            <a:off x="640080" y="3922776"/>
            <a:ext cx="1862633" cy="228600"/>
          </a:xfrm>
          <a:prstGeom prst="roundRect">
            <a:avLst>
              <a:gd name="adj" fmla="val 20000"/>
            </a:avLst>
          </a:prstGeom>
          <a:solidFill>
            <a:schemeClr val="bg2"/>
          </a:solidFill>
          <a:ln w="6350">
            <a:solidFill>
              <a:srgbClr val="C9D1D9"/>
            </a:solidFill>
            <a:prstDash val="solid"/>
          </a:ln>
        </p:spPr>
      </p:sp>
      <p:sp>
        <p:nvSpPr>
          <p:cNvPr id="36" name="Text 33"/>
          <p:cNvSpPr txBox="1"/>
          <p:nvPr/>
        </p:nvSpPr>
        <p:spPr>
          <a:xfrm>
            <a:off x="640080" y="3922776"/>
            <a:ext cx="1862633" cy="228600"/>
          </a:xfrm>
          <a:prstGeom prst="rect">
            <a:avLst/>
          </a:prstGeom>
          <a:noFill/>
          <a:ln/>
        </p:spPr>
        <p:txBody>
          <a:bodyPr wrap="square" lIns="0" tIns="0" rIns="0" bIns="0" rtlCol="0" anchor="ctr"/>
          <a:lstStyle/>
          <a:p>
            <a:pPr marL="0" indent="0" algn="ctr">
              <a:buNone/>
            </a:pPr>
            <a:r>
              <a:rPr lang="en-US" sz="1000" b="1" dirty="0">
                <a:solidFill>
                  <a:schemeClr val="tx1"/>
                </a:solidFill>
                <a:latin typeface="Courier New" pitchFamily="34" charset="0"/>
                <a:ea typeface="Courier New" pitchFamily="34" charset="-122"/>
                <a:cs typeface="Courier New" pitchFamily="34" charset="-120"/>
              </a:rPr>
              <a:t>avg_delay_when_delayed</a:t>
            </a:r>
            <a:endParaRPr lang="en-US" sz="1000" dirty="0"/>
          </a:p>
        </p:txBody>
      </p:sp>
      <p:sp>
        <p:nvSpPr>
          <p:cNvPr id="37" name="Text 34"/>
          <p:cNvSpPr txBox="1"/>
          <p:nvPr/>
        </p:nvSpPr>
        <p:spPr>
          <a:xfrm>
            <a:off x="640080" y="4224528"/>
            <a:ext cx="3840480" cy="347472"/>
          </a:xfrm>
          <a:prstGeom prst="rect">
            <a:avLst/>
          </a:prstGeom>
          <a:noFill/>
          <a:ln/>
        </p:spPr>
        <p:txBody>
          <a:bodyPr wrap="square" lIns="0" tIns="0" rIns="0" bIns="0" rtlCol="0" anchor="t"/>
          <a:lstStyle/>
          <a:p>
            <a:pPr marL="0" indent="0">
              <a:buNone/>
            </a:pPr>
            <a:r>
              <a:rPr lang="en-US" sz="1000" dirty="0">
                <a:solidFill>
                  <a:schemeClr val="accent6"/>
                </a:solidFill>
                <a:latin typeface="Calibri" pitchFamily="34" charset="0"/>
                <a:ea typeface="Calibri" pitchFamily="34" charset="-122"/>
                <a:cs typeface="Calibri" pitchFamily="34" charset="-120"/>
              </a:rPr>
              <a:t>avg_delay_all: average delay (minutes) over all journeys in a group</a:t>
            </a:r>
            <a:endParaRPr lang="en-US" sz="1000" dirty="0"/>
          </a:p>
          <a:p>
            <a:pPr marL="0" indent="0">
              <a:buNone/>
            </a:pPr>
            <a:r>
              <a:rPr lang="en-US" sz="1000" dirty="0">
                <a:solidFill>
                  <a:schemeClr val="accent6"/>
                </a:solidFill>
                <a:latin typeface="Calibri" pitchFamily="34" charset="0"/>
                <a:ea typeface="Calibri" pitchFamily="34" charset="-122"/>
                <a:cs typeface="Calibri" pitchFamily="34" charset="-120"/>
              </a:rPr>
              <a:t>avg_delay_when_delayed: average over delayed journeys only</a:t>
            </a:r>
            <a:endParaRPr lang="en-US" sz="1000" dirty="0"/>
          </a:p>
        </p:txBody>
      </p:sp>
      <p:sp>
        <p:nvSpPr>
          <p:cNvPr id="38" name="Shape 35"/>
          <p:cNvSpPr/>
          <p:nvPr/>
        </p:nvSpPr>
        <p:spPr>
          <a:xfrm>
            <a:off x="4754880" y="1051560"/>
            <a:ext cx="3931920" cy="914400"/>
          </a:xfrm>
          <a:prstGeom prst="roundRect">
            <a:avLst>
              <a:gd name="adj" fmla="val 6000"/>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39" name="Text 36"/>
          <p:cNvSpPr txBox="1"/>
          <p:nvPr/>
        </p:nvSpPr>
        <p:spPr>
          <a:xfrm>
            <a:off x="4892040" y="1097280"/>
            <a:ext cx="1005840" cy="822960"/>
          </a:xfrm>
          <a:prstGeom prst="rect">
            <a:avLst/>
          </a:prstGeom>
          <a:noFill/>
          <a:ln/>
        </p:spPr>
        <p:txBody>
          <a:bodyPr wrap="square" lIns="0" tIns="0" rIns="0" bIns="0" rtlCol="0" anchor="ctr"/>
          <a:lstStyle/>
          <a:p>
            <a:pPr marL="0" indent="0">
              <a:buNone/>
            </a:pPr>
            <a:r>
              <a:rPr lang="en-US" sz="4400" b="1" dirty="0">
                <a:solidFill>
                  <a:schemeClr val="accent4"/>
                </a:solidFill>
                <a:latin typeface="Courier New" pitchFamily="34" charset="0"/>
                <a:ea typeface="Courier New" pitchFamily="34" charset="-122"/>
                <a:cs typeface="Courier New" pitchFamily="34" charset="-120"/>
              </a:rPr>
              <a:t>70</a:t>
            </a:r>
            <a:endParaRPr lang="en-US" sz="4400" dirty="0"/>
          </a:p>
        </p:txBody>
      </p:sp>
      <p:sp>
        <p:nvSpPr>
          <p:cNvPr id="40" name="Text 37"/>
          <p:cNvSpPr txBox="1"/>
          <p:nvPr/>
        </p:nvSpPr>
        <p:spPr>
          <a:xfrm>
            <a:off x="5943600" y="1097280"/>
            <a:ext cx="2651760" cy="82296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rows verified with</a:t>
            </a:r>
            <a:endParaRPr lang="en-US" sz="1150" dirty="0"/>
          </a:p>
          <a:p>
            <a:pPr marL="0" indent="0">
              <a:buNone/>
            </a:pPr>
            <a:r>
              <a:rPr lang="en-US" sz="1300" b="1" dirty="0">
                <a:solidFill>
                  <a:schemeClr val="bg1"/>
                </a:solidFill>
                <a:latin typeface="Courier New" pitchFamily="34" charset="0"/>
                <a:ea typeface="Courier New" pitchFamily="34" charset="-122"/>
                <a:cs typeface="Courier New" pitchFamily="34" charset="-120"/>
              </a:rPr>
              <a:t>SELECT COUNT(*)</a:t>
            </a:r>
            <a:endParaRPr lang="en-US" sz="1150" dirty="0"/>
          </a:p>
        </p:txBody>
      </p:sp>
      <p:sp>
        <p:nvSpPr>
          <p:cNvPr id="41" name="Shape 38"/>
          <p:cNvSpPr/>
          <p:nvPr/>
        </p:nvSpPr>
        <p:spPr>
          <a:xfrm>
            <a:off x="4754880" y="2084832"/>
            <a:ext cx="3931920" cy="1042416"/>
          </a:xfrm>
          <a:prstGeom prst="roundRect">
            <a:avLst>
              <a:gd name="adj" fmla="val 5263"/>
            </a:avLst>
          </a:prstGeom>
          <a:solidFill>
            <a:srgbClr val="0C0C0C"/>
          </a:solidFill>
          <a:ln w="9525">
            <a:solidFill>
              <a:schemeClr val="accent3"/>
            </a:solidFill>
            <a:prstDash val="solid"/>
          </a:ln>
          <a:effectLst>
            <a:outerShdw blurRad="76200" dist="19050" dir="5400000" algn="bl" rotWithShape="0">
              <a:srgbClr val="0B1F3A">
                <a:alpha val="12000"/>
              </a:srgbClr>
            </a:outerShdw>
          </a:effectLst>
        </p:spPr>
      </p:sp>
      <p:pic>
        <p:nvPicPr>
          <p:cNvPr id="42" name="Image 0" descr="cqlsh: Successfully loaded 70 summary rows into Cassandra; SELECT COUNT(*) FROM delay_summary returns 70"/>
          <p:cNvPicPr>
            <a:picLocks noChangeAspect="1"/>
          </p:cNvPicPr>
          <p:nvPr/>
        </p:nvPicPr>
        <p:blipFill>
          <a:blip r:embed="rId3"/>
          <a:stretch>
            <a:fillRect/>
          </a:stretch>
        </p:blipFill>
        <p:spPr>
          <a:xfrm>
            <a:off x="4791456" y="2112264"/>
            <a:ext cx="3858768" cy="982066"/>
          </a:xfrm>
          <a:prstGeom prst="rect">
            <a:avLst/>
          </a:prstGeom>
        </p:spPr>
      </p:pic>
      <p:sp>
        <p:nvSpPr>
          <p:cNvPr id="43" name="Text 39"/>
          <p:cNvSpPr txBox="1"/>
          <p:nvPr/>
        </p:nvSpPr>
        <p:spPr>
          <a:xfrm>
            <a:off x="4754880" y="3163824"/>
            <a:ext cx="3931920" cy="182880"/>
          </a:xfrm>
          <a:prstGeom prst="rect">
            <a:avLst/>
          </a:prstGeom>
          <a:noFill/>
          <a:ln/>
        </p:spPr>
        <p:txBody>
          <a:bodyPr wrap="square" lIns="0" tIns="0" rIns="0" bIns="0" rtlCol="0" anchor="t"/>
          <a:lstStyle/>
          <a:p>
            <a:pPr marL="0" indent="0">
              <a:buNone/>
            </a:pPr>
            <a:r>
              <a:rPr lang="en-US" sz="1000" i="1" dirty="0">
                <a:solidFill>
                  <a:schemeClr val="accent6"/>
                </a:solidFill>
                <a:latin typeface="Calibri" pitchFamily="34" charset="0"/>
                <a:ea typeface="Calibri" pitchFamily="34" charset="-122"/>
                <a:cs typeface="Calibri" pitchFamily="34" charset="-120"/>
              </a:rPr>
              <a:t>Evidence: loading and verification in cqlsh</a:t>
            </a:r>
            <a:endParaRPr lang="en-US" sz="1000" dirty="0"/>
          </a:p>
        </p:txBody>
      </p:sp>
      <p:sp>
        <p:nvSpPr>
          <p:cNvPr id="44" name="Shape 40"/>
          <p:cNvSpPr/>
          <p:nvPr/>
        </p:nvSpPr>
        <p:spPr>
          <a:xfrm>
            <a:off x="4754880" y="3456432"/>
            <a:ext cx="3931920" cy="1161288"/>
          </a:xfrm>
          <a:prstGeom prst="roundRect">
            <a:avLst>
              <a:gd name="adj" fmla="val 4724"/>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45" name="Text 41"/>
          <p:cNvSpPr txBox="1"/>
          <p:nvPr/>
        </p:nvSpPr>
        <p:spPr>
          <a:xfrm>
            <a:off x="4937760" y="3547872"/>
            <a:ext cx="3566160" cy="100584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Purpose: </a:t>
            </a:r>
            <a:r>
              <a:rPr lang="en-US" sz="1200" dirty="0">
                <a:solidFill>
                  <a:schemeClr val="tx1"/>
                </a:solidFill>
                <a:latin typeface="Calibri" pitchFamily="34" charset="0"/>
                <a:ea typeface="Calibri" pitchFamily="34" charset="-122"/>
                <a:cs typeface="Calibri" pitchFamily="34" charset="-120"/>
              </a:rPr>
              <a:t>keeps the 70 MapReduce summary rows in one table. Each row is a group, such as one zone or one hour. The dashboard reads only this table.</a:t>
            </a:r>
            <a:endParaRPr lang="en-US" sz="1200" dirty="0"/>
          </a:p>
        </p:txBody>
      </p:sp>
      <p:sp>
        <p:nvSpPr>
          <p:cNvPr id="46" name="Current station marker"/>
          <p:cNvSpPr/>
          <p:nvPr/>
        </p:nvSpPr>
        <p:spPr>
          <a:xfrm>
            <a:off x="5404104"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08  |  DASHBOARD</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Dashboard: Zones, Train Types, Hours and Delay Causes</a:t>
            </a:r>
            <a:endParaRPr lang="en-US" sz="2400" dirty="0"/>
          </a:p>
        </p:txBody>
      </p:sp>
      <p:sp>
        <p:nvSpPr>
          <p:cNvPr id="5" name="Shape 2"/>
          <p:cNvSpPr/>
          <p:nvPr/>
        </p:nvSpPr>
        <p:spPr>
          <a:xfrm>
            <a:off x="457200" y="987552"/>
            <a:ext cx="2651760" cy="603504"/>
          </a:xfrm>
          <a:prstGeom prst="roundRect">
            <a:avLst>
              <a:gd name="adj" fmla="val 9091"/>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6" name="Text 3"/>
          <p:cNvSpPr txBox="1"/>
          <p:nvPr/>
        </p:nvSpPr>
        <p:spPr>
          <a:xfrm>
            <a:off x="566928" y="1051560"/>
            <a:ext cx="2432304" cy="164592"/>
          </a:xfrm>
          <a:prstGeom prst="rect">
            <a:avLst/>
          </a:prstGeom>
          <a:noFill/>
          <a:ln/>
        </p:spPr>
        <p:txBody>
          <a:bodyPr wrap="square" lIns="0" tIns="0" rIns="0" bIns="0" rtlCol="0" anchor="t"/>
          <a:lstStyle/>
          <a:p>
            <a:pPr marL="0" indent="0">
              <a:buNone/>
            </a:pPr>
            <a:r>
              <a:rPr lang="en-US" sz="900" b="1" kern="0" spc="100" dirty="0">
                <a:solidFill>
                  <a:schemeClr val="accent5"/>
                </a:solidFill>
                <a:latin typeface="Courier New" pitchFamily="34" charset="0"/>
                <a:ea typeface="Courier New" pitchFamily="34" charset="-122"/>
                <a:cs typeface="Courier New" pitchFamily="34" charset="-120"/>
              </a:rPr>
              <a:t>TOTAL JOURNEYS</a:t>
            </a:r>
            <a:endParaRPr lang="en-US" sz="900" dirty="0"/>
          </a:p>
        </p:txBody>
      </p:sp>
      <p:sp>
        <p:nvSpPr>
          <p:cNvPr id="7" name="Text 4"/>
          <p:cNvSpPr txBox="1"/>
          <p:nvPr/>
        </p:nvSpPr>
        <p:spPr>
          <a:xfrm>
            <a:off x="566928" y="1207008"/>
            <a:ext cx="2432304" cy="329184"/>
          </a:xfrm>
          <a:prstGeom prst="rect">
            <a:avLst/>
          </a:prstGeom>
          <a:noFill/>
          <a:ln/>
        </p:spPr>
        <p:txBody>
          <a:bodyPr wrap="square" lIns="0" tIns="0" rIns="0" bIns="0" rtlCol="0" anchor="ctr"/>
          <a:lstStyle/>
          <a:p>
            <a:pPr marL="0" indent="0">
              <a:buNone/>
            </a:pPr>
            <a:r>
              <a:rPr lang="en-US" sz="1800" b="1" dirty="0">
                <a:solidFill>
                  <a:schemeClr val="accent4"/>
                </a:solidFill>
                <a:latin typeface="Courier New" pitchFamily="34" charset="0"/>
                <a:ea typeface="Courier New" pitchFamily="34" charset="-122"/>
                <a:cs typeface="Courier New" pitchFamily="34" charset="-120"/>
              </a:rPr>
              <a:t>1,500,000</a:t>
            </a:r>
            <a:endParaRPr lang="en-US" sz="1800" dirty="0"/>
          </a:p>
        </p:txBody>
      </p:sp>
      <p:sp>
        <p:nvSpPr>
          <p:cNvPr id="8" name="Shape 5"/>
          <p:cNvSpPr/>
          <p:nvPr/>
        </p:nvSpPr>
        <p:spPr>
          <a:xfrm>
            <a:off x="3246120" y="987552"/>
            <a:ext cx="2651760" cy="603504"/>
          </a:xfrm>
          <a:prstGeom prst="roundRect">
            <a:avLst>
              <a:gd name="adj" fmla="val 9091"/>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9" name="Text 6"/>
          <p:cNvSpPr txBox="1"/>
          <p:nvPr/>
        </p:nvSpPr>
        <p:spPr>
          <a:xfrm>
            <a:off x="3355848" y="1051560"/>
            <a:ext cx="2432304" cy="164592"/>
          </a:xfrm>
          <a:prstGeom prst="rect">
            <a:avLst/>
          </a:prstGeom>
          <a:noFill/>
          <a:ln/>
        </p:spPr>
        <p:txBody>
          <a:bodyPr wrap="square" lIns="0" tIns="0" rIns="0" bIns="0" rtlCol="0" anchor="t"/>
          <a:lstStyle/>
          <a:p>
            <a:pPr marL="0" indent="0">
              <a:buNone/>
            </a:pPr>
            <a:r>
              <a:rPr lang="en-US" sz="900" b="1" kern="0" spc="100" dirty="0">
                <a:solidFill>
                  <a:schemeClr val="accent5"/>
                </a:solidFill>
                <a:latin typeface="Courier New" pitchFamily="34" charset="0"/>
                <a:ea typeface="Courier New" pitchFamily="34" charset="-122"/>
                <a:cs typeface="Courier New" pitchFamily="34" charset="-120"/>
              </a:rPr>
              <a:t>DELAYED JOURNEYS</a:t>
            </a:r>
            <a:endParaRPr lang="en-US" sz="900" dirty="0"/>
          </a:p>
        </p:txBody>
      </p:sp>
      <p:sp>
        <p:nvSpPr>
          <p:cNvPr id="10" name="Text 7"/>
          <p:cNvSpPr txBox="1"/>
          <p:nvPr/>
        </p:nvSpPr>
        <p:spPr>
          <a:xfrm>
            <a:off x="3355848" y="1207008"/>
            <a:ext cx="2432304" cy="329184"/>
          </a:xfrm>
          <a:prstGeom prst="rect">
            <a:avLst/>
          </a:prstGeom>
          <a:noFill/>
          <a:ln/>
        </p:spPr>
        <p:txBody>
          <a:bodyPr wrap="square" lIns="0" tIns="0" rIns="0" bIns="0" rtlCol="0" anchor="ctr"/>
          <a:lstStyle/>
          <a:p>
            <a:pPr marL="0" indent="0">
              <a:buNone/>
            </a:pPr>
            <a:r>
              <a:rPr lang="en-US" sz="1800" b="1" dirty="0">
                <a:solidFill>
                  <a:schemeClr val="accent4"/>
                </a:solidFill>
                <a:latin typeface="Courier New" pitchFamily="34" charset="0"/>
                <a:ea typeface="Courier New" pitchFamily="34" charset="-122"/>
                <a:cs typeface="Courier New" pitchFamily="34" charset="-120"/>
              </a:rPr>
              <a:t>1,078,329</a:t>
            </a:r>
            <a:endParaRPr lang="en-US" sz="1800" dirty="0"/>
          </a:p>
        </p:txBody>
      </p:sp>
      <p:sp>
        <p:nvSpPr>
          <p:cNvPr id="11" name="Shape 8"/>
          <p:cNvSpPr/>
          <p:nvPr/>
        </p:nvSpPr>
        <p:spPr>
          <a:xfrm>
            <a:off x="6035040" y="987552"/>
            <a:ext cx="2651760" cy="603504"/>
          </a:xfrm>
          <a:prstGeom prst="roundRect">
            <a:avLst>
              <a:gd name="adj" fmla="val 9091"/>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12" name="Text 9"/>
          <p:cNvSpPr txBox="1"/>
          <p:nvPr/>
        </p:nvSpPr>
        <p:spPr>
          <a:xfrm>
            <a:off x="6144768" y="1051560"/>
            <a:ext cx="2432304" cy="164592"/>
          </a:xfrm>
          <a:prstGeom prst="rect">
            <a:avLst/>
          </a:prstGeom>
          <a:noFill/>
          <a:ln/>
        </p:spPr>
        <p:txBody>
          <a:bodyPr wrap="square" lIns="0" tIns="0" rIns="0" bIns="0" rtlCol="0" anchor="t"/>
          <a:lstStyle/>
          <a:p>
            <a:pPr marL="0" indent="0">
              <a:buNone/>
            </a:pPr>
            <a:r>
              <a:rPr lang="en-US" sz="900" b="1" kern="0" spc="100" dirty="0">
                <a:solidFill>
                  <a:schemeClr val="accent5"/>
                </a:solidFill>
                <a:latin typeface="Courier New" pitchFamily="34" charset="0"/>
                <a:ea typeface="Courier New" pitchFamily="34" charset="-122"/>
                <a:cs typeface="Courier New" pitchFamily="34" charset="-120"/>
              </a:rPr>
              <a:t>OVERALL DELAY RATE</a:t>
            </a:r>
            <a:endParaRPr lang="en-US" sz="900" dirty="0"/>
          </a:p>
        </p:txBody>
      </p:sp>
      <p:sp>
        <p:nvSpPr>
          <p:cNvPr id="13" name="Text 10"/>
          <p:cNvSpPr txBox="1"/>
          <p:nvPr/>
        </p:nvSpPr>
        <p:spPr>
          <a:xfrm>
            <a:off x="6144768" y="1207008"/>
            <a:ext cx="2432304" cy="329184"/>
          </a:xfrm>
          <a:prstGeom prst="rect">
            <a:avLst/>
          </a:prstGeom>
          <a:noFill/>
          <a:ln/>
        </p:spPr>
        <p:txBody>
          <a:bodyPr wrap="square" lIns="0" tIns="0" rIns="0" bIns="0" rtlCol="0" anchor="ctr"/>
          <a:lstStyle/>
          <a:p>
            <a:pPr marL="0" indent="0">
              <a:buNone/>
            </a:pPr>
            <a:r>
              <a:rPr lang="en-US" sz="1800" b="1" dirty="0">
                <a:solidFill>
                  <a:schemeClr val="accent4"/>
                </a:solidFill>
                <a:latin typeface="Courier New" pitchFamily="34" charset="0"/>
                <a:ea typeface="Courier New" pitchFamily="34" charset="-122"/>
                <a:cs typeface="Courier New" pitchFamily="34" charset="-120"/>
              </a:rPr>
              <a:t>71.89%</a:t>
            </a:r>
            <a:endParaRPr lang="en-US" sz="1800" dirty="0"/>
          </a:p>
        </p:txBody>
      </p:sp>
      <p:sp>
        <p:nvSpPr>
          <p:cNvPr id="14" name="Dashboard tab 1"/>
          <p:cNvSpPr/>
          <p:nvPr/>
        </p:nvSpPr>
        <p:spPr>
          <a:xfrm>
            <a:off x="457200" y="1719072"/>
            <a:ext cx="1920240" cy="2907792"/>
          </a:xfrm>
          <a:prstGeom prst="roundRect">
            <a:avLst>
              <a:gd name="adj" fmla="val 2857"/>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15" name="Text 12"/>
          <p:cNvSpPr txBox="1"/>
          <p:nvPr/>
        </p:nvSpPr>
        <p:spPr>
          <a:xfrm>
            <a:off x="576072" y="1865376"/>
            <a:ext cx="256032" cy="25603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3"/>
          <p:cNvSpPr txBox="1"/>
          <p:nvPr/>
        </p:nvSpPr>
        <p:spPr>
          <a:xfrm>
            <a:off x="914400" y="1810512"/>
            <a:ext cx="1371600" cy="155448"/>
          </a:xfrm>
          <a:prstGeom prst="rect">
            <a:avLst/>
          </a:prstGeom>
          <a:noFill/>
          <a:ln/>
        </p:spPr>
        <p:txBody>
          <a:bodyPr wrap="square" lIns="0" tIns="0" rIns="0" bIns="0" rtlCol="0" anchor="t"/>
          <a:lstStyle/>
          <a:p>
            <a:pPr marL="0" indent="0">
              <a:buNone/>
            </a:pPr>
            <a:r>
              <a:rPr lang="en-US" sz="900" b="1" kern="0" spc="100" dirty="0">
                <a:solidFill>
                  <a:schemeClr val="accent2"/>
                </a:solidFill>
                <a:latin typeface="Courier New" pitchFamily="34" charset="0"/>
                <a:ea typeface="Courier New" pitchFamily="34" charset="-122"/>
                <a:cs typeface="Courier New" pitchFamily="34" charset="-120"/>
              </a:rPr>
              <a:t>TAB 1</a:t>
            </a:r>
            <a:endParaRPr lang="en-US" sz="900" dirty="0"/>
          </a:p>
        </p:txBody>
      </p:sp>
      <p:sp>
        <p:nvSpPr>
          <p:cNvPr id="17" name="Text 14"/>
          <p:cNvSpPr txBox="1"/>
          <p:nvPr/>
        </p:nvSpPr>
        <p:spPr>
          <a:xfrm>
            <a:off x="914400" y="1965960"/>
            <a:ext cx="1417320" cy="237744"/>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Railway Zones</a:t>
            </a:r>
            <a:endParaRPr lang="en-US" sz="1250" dirty="0"/>
          </a:p>
        </p:txBody>
      </p:sp>
      <p:pic>
        <p:nvPicPr>
          <p:cNvPr id="18" name="Image 0" descr="Streamlit dashboard screenshot: Railway Zones tab"/>
          <p:cNvPicPr>
            <a:picLocks noChangeAspect="1"/>
          </p:cNvPicPr>
          <p:nvPr/>
        </p:nvPicPr>
        <p:blipFill>
          <a:blip r:embed="rId3"/>
          <a:stretch>
            <a:fillRect/>
          </a:stretch>
        </p:blipFill>
        <p:spPr>
          <a:xfrm>
            <a:off x="548640" y="2286000"/>
            <a:ext cx="1737360" cy="875081"/>
          </a:xfrm>
          <a:prstGeom prst="rect">
            <a:avLst/>
          </a:prstGeom>
        </p:spPr>
      </p:pic>
      <p:sp>
        <p:nvSpPr>
          <p:cNvPr id="19" name="Shape 15"/>
          <p:cNvSpPr/>
          <p:nvPr/>
        </p:nvSpPr>
        <p:spPr>
          <a:xfrm>
            <a:off x="548640" y="2286000"/>
            <a:ext cx="1737360" cy="875081"/>
          </a:xfrm>
          <a:prstGeom prst="rect">
            <a:avLst/>
          </a:prstGeom>
          <a:ln w="9525">
            <a:solidFill>
              <a:srgbClr val="C9D1D9"/>
            </a:solidFill>
            <a:prstDash val="solid"/>
          </a:ln>
        </p:spPr>
      </p:sp>
      <p:sp>
        <p:nvSpPr>
          <p:cNvPr id="20" name="Text 16"/>
          <p:cNvSpPr txBox="1"/>
          <p:nvPr/>
        </p:nvSpPr>
        <p:spPr>
          <a:xfrm>
            <a:off x="566928" y="3255264"/>
            <a:ext cx="1719072" cy="310896"/>
          </a:xfrm>
          <a:prstGeom prst="rect">
            <a:avLst/>
          </a:prstGeom>
          <a:noFill/>
          <a:ln/>
        </p:spPr>
        <p:txBody>
          <a:bodyPr wrap="square" lIns="0" tIns="0" rIns="0" bIns="0" rtlCol="0" anchor="ctr"/>
          <a:lstStyle/>
          <a:p>
            <a:pPr marL="0" indent="0">
              <a:buNone/>
            </a:pPr>
            <a:r>
              <a:rPr lang="en-US" sz="2100" b="1" dirty="0">
                <a:solidFill>
                  <a:schemeClr val="accent1"/>
                </a:solidFill>
                <a:latin typeface="Calibri" pitchFamily="34" charset="0"/>
                <a:ea typeface="Calibri" pitchFamily="34" charset="-122"/>
                <a:cs typeface="Calibri" pitchFamily="34" charset="-120"/>
              </a:rPr>
              <a:t>89.32%</a:t>
            </a:r>
            <a:endParaRPr lang="en-US" sz="2100" dirty="0"/>
          </a:p>
        </p:txBody>
      </p:sp>
      <p:sp>
        <p:nvSpPr>
          <p:cNvPr id="21" name="Text 17"/>
          <p:cNvSpPr txBox="1"/>
          <p:nvPr/>
        </p:nvSpPr>
        <p:spPr>
          <a:xfrm>
            <a:off x="566928" y="3584448"/>
            <a:ext cx="1719072" cy="329184"/>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highest delay rate: Eastern Railway (16 zones)</a:t>
            </a:r>
            <a:endParaRPr lang="en-US" sz="1000" dirty="0"/>
          </a:p>
        </p:txBody>
      </p:sp>
      <p:sp>
        <p:nvSpPr>
          <p:cNvPr id="22" name="Dashboard tab 2"/>
          <p:cNvSpPr/>
          <p:nvPr/>
        </p:nvSpPr>
        <p:spPr>
          <a:xfrm>
            <a:off x="2560320" y="1719072"/>
            <a:ext cx="1920240" cy="2907792"/>
          </a:xfrm>
          <a:prstGeom prst="roundRect">
            <a:avLst>
              <a:gd name="adj" fmla="val 2857"/>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23" name="Text 19"/>
          <p:cNvSpPr txBox="1"/>
          <p:nvPr/>
        </p:nvSpPr>
        <p:spPr>
          <a:xfrm>
            <a:off x="2679192" y="1865376"/>
            <a:ext cx="256032" cy="25603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0"/>
          <p:cNvSpPr txBox="1"/>
          <p:nvPr/>
        </p:nvSpPr>
        <p:spPr>
          <a:xfrm>
            <a:off x="3017520" y="1810512"/>
            <a:ext cx="1371600" cy="155448"/>
          </a:xfrm>
          <a:prstGeom prst="rect">
            <a:avLst/>
          </a:prstGeom>
          <a:noFill/>
          <a:ln/>
        </p:spPr>
        <p:txBody>
          <a:bodyPr wrap="square" lIns="0" tIns="0" rIns="0" bIns="0" rtlCol="0" anchor="t"/>
          <a:lstStyle/>
          <a:p>
            <a:pPr marL="0" indent="0">
              <a:buNone/>
            </a:pPr>
            <a:r>
              <a:rPr lang="en-US" sz="900" b="1" kern="0" spc="100" dirty="0">
                <a:solidFill>
                  <a:schemeClr val="accent2"/>
                </a:solidFill>
                <a:latin typeface="Courier New" pitchFamily="34" charset="0"/>
                <a:ea typeface="Courier New" pitchFamily="34" charset="-122"/>
                <a:cs typeface="Courier New" pitchFamily="34" charset="-120"/>
              </a:rPr>
              <a:t>TAB 2</a:t>
            </a:r>
            <a:endParaRPr lang="en-US" sz="900" dirty="0"/>
          </a:p>
        </p:txBody>
      </p:sp>
      <p:sp>
        <p:nvSpPr>
          <p:cNvPr id="25" name="Text 21"/>
          <p:cNvSpPr txBox="1"/>
          <p:nvPr/>
        </p:nvSpPr>
        <p:spPr>
          <a:xfrm>
            <a:off x="3017520" y="1965960"/>
            <a:ext cx="1417320" cy="237744"/>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Train Types</a:t>
            </a:r>
            <a:endParaRPr lang="en-US" sz="1250" dirty="0"/>
          </a:p>
        </p:txBody>
      </p:sp>
      <p:pic>
        <p:nvPicPr>
          <p:cNvPr id="26" name="Image 1" descr="Streamlit dashboard screenshot: Train Types tab"/>
          <p:cNvPicPr>
            <a:picLocks noChangeAspect="1"/>
          </p:cNvPicPr>
          <p:nvPr/>
        </p:nvPicPr>
        <p:blipFill>
          <a:blip r:embed="rId4"/>
          <a:stretch>
            <a:fillRect/>
          </a:stretch>
        </p:blipFill>
        <p:spPr>
          <a:xfrm>
            <a:off x="2651760" y="2286000"/>
            <a:ext cx="1737360" cy="875081"/>
          </a:xfrm>
          <a:prstGeom prst="rect">
            <a:avLst/>
          </a:prstGeom>
        </p:spPr>
      </p:pic>
      <p:sp>
        <p:nvSpPr>
          <p:cNvPr id="27" name="Shape 22"/>
          <p:cNvSpPr/>
          <p:nvPr/>
        </p:nvSpPr>
        <p:spPr>
          <a:xfrm>
            <a:off x="2651760" y="2286000"/>
            <a:ext cx="1737360" cy="875081"/>
          </a:xfrm>
          <a:prstGeom prst="rect">
            <a:avLst/>
          </a:prstGeom>
          <a:ln w="9525">
            <a:solidFill>
              <a:srgbClr val="C9D1D9"/>
            </a:solidFill>
            <a:prstDash val="solid"/>
          </a:ln>
        </p:spPr>
      </p:sp>
      <p:sp>
        <p:nvSpPr>
          <p:cNvPr id="28" name="Text 23"/>
          <p:cNvSpPr txBox="1"/>
          <p:nvPr/>
        </p:nvSpPr>
        <p:spPr>
          <a:xfrm>
            <a:off x="2670048" y="3255264"/>
            <a:ext cx="1719072" cy="310896"/>
          </a:xfrm>
          <a:prstGeom prst="rect">
            <a:avLst/>
          </a:prstGeom>
          <a:noFill/>
          <a:ln/>
        </p:spPr>
        <p:txBody>
          <a:bodyPr wrap="square" lIns="0" tIns="0" rIns="0" bIns="0" rtlCol="0" anchor="ctr"/>
          <a:lstStyle/>
          <a:p>
            <a:pPr marL="0" indent="0">
              <a:buNone/>
            </a:pPr>
            <a:r>
              <a:rPr lang="en-US" sz="2100" b="1" dirty="0">
                <a:solidFill>
                  <a:schemeClr val="accent1"/>
                </a:solidFill>
                <a:latin typeface="Calibri" pitchFamily="34" charset="0"/>
                <a:ea typeface="Calibri" pitchFamily="34" charset="-122"/>
                <a:cs typeface="Calibri" pitchFamily="34" charset="-120"/>
              </a:rPr>
              <a:t>88.04%</a:t>
            </a:r>
            <a:endParaRPr lang="en-US" sz="2100" dirty="0"/>
          </a:p>
        </p:txBody>
      </p:sp>
      <p:sp>
        <p:nvSpPr>
          <p:cNvPr id="29" name="Text 24"/>
          <p:cNvSpPr txBox="1"/>
          <p:nvPr/>
        </p:nvSpPr>
        <p:spPr>
          <a:xfrm>
            <a:off x="2670048" y="3584448"/>
            <a:ext cx="1719072" cy="329184"/>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highest delay rate: Passenger Train (15 types)</a:t>
            </a:r>
            <a:endParaRPr lang="en-US" sz="1000" dirty="0"/>
          </a:p>
        </p:txBody>
      </p:sp>
      <p:sp>
        <p:nvSpPr>
          <p:cNvPr id="30" name="Dashboard tab 3"/>
          <p:cNvSpPr/>
          <p:nvPr/>
        </p:nvSpPr>
        <p:spPr>
          <a:xfrm>
            <a:off x="4663440" y="1719072"/>
            <a:ext cx="1920240" cy="2907792"/>
          </a:xfrm>
          <a:prstGeom prst="roundRect">
            <a:avLst>
              <a:gd name="adj" fmla="val 2857"/>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31" name="Text 26"/>
          <p:cNvSpPr txBox="1"/>
          <p:nvPr/>
        </p:nvSpPr>
        <p:spPr>
          <a:xfrm>
            <a:off x="4782312" y="1865376"/>
            <a:ext cx="256032" cy="25603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27"/>
          <p:cNvSpPr txBox="1"/>
          <p:nvPr/>
        </p:nvSpPr>
        <p:spPr>
          <a:xfrm>
            <a:off x="5120640" y="1810512"/>
            <a:ext cx="1371600" cy="155448"/>
          </a:xfrm>
          <a:prstGeom prst="rect">
            <a:avLst/>
          </a:prstGeom>
          <a:noFill/>
          <a:ln/>
        </p:spPr>
        <p:txBody>
          <a:bodyPr wrap="square" lIns="0" tIns="0" rIns="0" bIns="0" rtlCol="0" anchor="t"/>
          <a:lstStyle/>
          <a:p>
            <a:pPr marL="0" indent="0">
              <a:buNone/>
            </a:pPr>
            <a:r>
              <a:rPr lang="en-US" sz="900" b="1" kern="0" spc="100" dirty="0">
                <a:solidFill>
                  <a:schemeClr val="accent2"/>
                </a:solidFill>
                <a:latin typeface="Courier New" pitchFamily="34" charset="0"/>
                <a:ea typeface="Courier New" pitchFamily="34" charset="-122"/>
                <a:cs typeface="Courier New" pitchFamily="34" charset="-120"/>
              </a:rPr>
              <a:t>TAB 3</a:t>
            </a:r>
            <a:endParaRPr lang="en-US" sz="900" dirty="0"/>
          </a:p>
        </p:txBody>
      </p:sp>
      <p:sp>
        <p:nvSpPr>
          <p:cNvPr id="33" name="Text 28"/>
          <p:cNvSpPr txBox="1"/>
          <p:nvPr/>
        </p:nvSpPr>
        <p:spPr>
          <a:xfrm>
            <a:off x="5120640" y="1965960"/>
            <a:ext cx="1417320" cy="237744"/>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Departure Hours</a:t>
            </a:r>
            <a:endParaRPr lang="en-US" sz="1250" dirty="0"/>
          </a:p>
        </p:txBody>
      </p:sp>
      <p:pic>
        <p:nvPicPr>
          <p:cNvPr id="34" name="Image 2" descr="Streamlit dashboard screenshot: Departure Hours tab"/>
          <p:cNvPicPr>
            <a:picLocks noChangeAspect="1"/>
          </p:cNvPicPr>
          <p:nvPr/>
        </p:nvPicPr>
        <p:blipFill>
          <a:blip r:embed="rId5"/>
          <a:stretch>
            <a:fillRect/>
          </a:stretch>
        </p:blipFill>
        <p:spPr>
          <a:xfrm>
            <a:off x="4754880" y="2286000"/>
            <a:ext cx="1737360" cy="875081"/>
          </a:xfrm>
          <a:prstGeom prst="rect">
            <a:avLst/>
          </a:prstGeom>
        </p:spPr>
      </p:pic>
      <p:sp>
        <p:nvSpPr>
          <p:cNvPr id="35" name="Shape 29"/>
          <p:cNvSpPr/>
          <p:nvPr/>
        </p:nvSpPr>
        <p:spPr>
          <a:xfrm>
            <a:off x="4754880" y="2286000"/>
            <a:ext cx="1737360" cy="875081"/>
          </a:xfrm>
          <a:prstGeom prst="rect">
            <a:avLst/>
          </a:prstGeom>
          <a:ln w="9525">
            <a:solidFill>
              <a:srgbClr val="C9D1D9"/>
            </a:solidFill>
            <a:prstDash val="solid"/>
          </a:ln>
        </p:spPr>
      </p:sp>
      <p:sp>
        <p:nvSpPr>
          <p:cNvPr id="36" name="Text 30"/>
          <p:cNvSpPr txBox="1"/>
          <p:nvPr/>
        </p:nvSpPr>
        <p:spPr>
          <a:xfrm>
            <a:off x="4773168" y="3255264"/>
            <a:ext cx="1719072" cy="310896"/>
          </a:xfrm>
          <a:prstGeom prst="rect">
            <a:avLst/>
          </a:prstGeom>
          <a:noFill/>
          <a:ln/>
        </p:spPr>
        <p:txBody>
          <a:bodyPr wrap="square" lIns="0" tIns="0" rIns="0" bIns="0" rtlCol="0" anchor="ctr"/>
          <a:lstStyle/>
          <a:p>
            <a:pPr marL="0" indent="0">
              <a:buNone/>
            </a:pPr>
            <a:r>
              <a:rPr lang="en-US" sz="2100" b="1" dirty="0">
                <a:solidFill>
                  <a:schemeClr val="accent1"/>
                </a:solidFill>
                <a:latin typeface="Calibri" pitchFamily="34" charset="0"/>
                <a:ea typeface="Calibri" pitchFamily="34" charset="-122"/>
                <a:cs typeface="Calibri" pitchFamily="34" charset="-120"/>
              </a:rPr>
              <a:t>75.9–76.8%</a:t>
            </a:r>
            <a:endParaRPr lang="en-US" sz="2100" dirty="0"/>
          </a:p>
        </p:txBody>
      </p:sp>
      <p:sp>
        <p:nvSpPr>
          <p:cNvPr id="37" name="Text 31"/>
          <p:cNvSpPr txBox="1"/>
          <p:nvPr/>
        </p:nvSpPr>
        <p:spPr>
          <a:xfrm>
            <a:off x="4773168" y="3584448"/>
            <a:ext cx="1719072" cy="329184"/>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delay rate for 00:00 to 04:00 departures</a:t>
            </a:r>
            <a:endParaRPr lang="en-US" sz="1000" dirty="0"/>
          </a:p>
        </p:txBody>
      </p:sp>
      <p:sp>
        <p:nvSpPr>
          <p:cNvPr id="38" name="Text 32"/>
          <p:cNvSpPr txBox="1"/>
          <p:nvPr/>
        </p:nvSpPr>
        <p:spPr>
          <a:xfrm>
            <a:off x="4773168" y="3950208"/>
            <a:ext cx="1719072" cy="658368"/>
          </a:xfrm>
          <a:prstGeom prst="rect">
            <a:avLst/>
          </a:prstGeom>
          <a:noFill/>
          <a:ln/>
        </p:spPr>
        <p:txBody>
          <a:bodyPr wrap="square" lIns="0" tIns="0" rIns="0" bIns="0" rtlCol="0" anchor="t"/>
          <a:lstStyle/>
          <a:p>
            <a:pPr marL="0" indent="0">
              <a:spcAft>
                <a:spcPts val="300"/>
              </a:spcAft>
              <a:buNone/>
            </a:pPr>
            <a:r>
              <a:rPr lang="en-US" sz="1000" dirty="0">
                <a:solidFill>
                  <a:schemeClr val="accent6"/>
                </a:solidFill>
                <a:latin typeface="Calibri" pitchFamily="34" charset="0"/>
                <a:ea typeface="Calibri" pitchFamily="34" charset="-122"/>
                <a:cs typeface="Calibri" pitchFamily="34" charset="-120"/>
              </a:rPr>
              <a:t>Stays between about 71% and 77% all day</a:t>
            </a:r>
            <a:endParaRPr lang="en-US" sz="1000" dirty="0"/>
          </a:p>
          <a:p>
            <a:pPr marL="0" indent="0">
              <a:spcAft>
                <a:spcPts val="300"/>
              </a:spcAft>
              <a:buNone/>
            </a:pPr>
            <a:r>
              <a:rPr lang="en-US" sz="1000" dirty="0">
                <a:solidFill>
                  <a:schemeClr val="accent6"/>
                </a:solidFill>
                <a:latin typeface="Calibri" pitchFamily="34" charset="0"/>
                <a:ea typeface="Calibri" pitchFamily="34" charset="-122"/>
                <a:cs typeface="Calibri" pitchFamily="34" charset="-120"/>
              </a:rPr>
              <a:t>Table below the chart is read from Cassandra</a:t>
            </a:r>
            <a:endParaRPr lang="en-US" sz="1000" dirty="0"/>
          </a:p>
        </p:txBody>
      </p:sp>
      <p:sp>
        <p:nvSpPr>
          <p:cNvPr id="39" name="Dashboard tab 4"/>
          <p:cNvSpPr/>
          <p:nvPr/>
        </p:nvSpPr>
        <p:spPr>
          <a:xfrm>
            <a:off x="6766560" y="1719072"/>
            <a:ext cx="1920240" cy="2907792"/>
          </a:xfrm>
          <a:prstGeom prst="roundRect">
            <a:avLst>
              <a:gd name="adj" fmla="val 2857"/>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40" name="Text 34"/>
          <p:cNvSpPr txBox="1"/>
          <p:nvPr/>
        </p:nvSpPr>
        <p:spPr>
          <a:xfrm>
            <a:off x="6885432" y="1865376"/>
            <a:ext cx="256032" cy="256032"/>
          </a:xfrm>
          <a:prstGeom prst="ellipse">
            <a:avLst/>
          </a:prstGeom>
          <a:solidFill>
            <a:schemeClr val="accent1"/>
          </a:solidFill>
          <a:ln w="12700">
            <a:solidFill>
              <a:schemeClr val="bg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5"/>
          <p:cNvSpPr txBox="1"/>
          <p:nvPr/>
        </p:nvSpPr>
        <p:spPr>
          <a:xfrm>
            <a:off x="7223760" y="1810512"/>
            <a:ext cx="1371600" cy="155448"/>
          </a:xfrm>
          <a:prstGeom prst="rect">
            <a:avLst/>
          </a:prstGeom>
          <a:noFill/>
          <a:ln/>
        </p:spPr>
        <p:txBody>
          <a:bodyPr wrap="square" lIns="0" tIns="0" rIns="0" bIns="0" rtlCol="0" anchor="t"/>
          <a:lstStyle/>
          <a:p>
            <a:pPr marL="0" indent="0">
              <a:buNone/>
            </a:pPr>
            <a:r>
              <a:rPr lang="en-US" sz="900" b="1" kern="0" spc="100" dirty="0">
                <a:solidFill>
                  <a:schemeClr val="accent2"/>
                </a:solidFill>
                <a:latin typeface="Courier New" pitchFamily="34" charset="0"/>
                <a:ea typeface="Courier New" pitchFamily="34" charset="-122"/>
                <a:cs typeface="Courier New" pitchFamily="34" charset="-120"/>
              </a:rPr>
              <a:t>TAB 4</a:t>
            </a:r>
            <a:endParaRPr lang="en-US" sz="900" dirty="0"/>
          </a:p>
        </p:txBody>
      </p:sp>
      <p:sp>
        <p:nvSpPr>
          <p:cNvPr id="42" name="Text 36"/>
          <p:cNvSpPr txBox="1"/>
          <p:nvPr/>
        </p:nvSpPr>
        <p:spPr>
          <a:xfrm>
            <a:off x="7223760" y="1965960"/>
            <a:ext cx="1417320" cy="237744"/>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Delay Causes</a:t>
            </a:r>
            <a:endParaRPr lang="en-US" sz="1250" dirty="0"/>
          </a:p>
        </p:txBody>
      </p:sp>
      <p:pic>
        <p:nvPicPr>
          <p:cNvPr id="43" name="Image 3" descr="Streamlit dashboard screenshot: Delay Causes tab"/>
          <p:cNvPicPr>
            <a:picLocks noChangeAspect="1"/>
          </p:cNvPicPr>
          <p:nvPr/>
        </p:nvPicPr>
        <p:blipFill>
          <a:blip r:embed="rId6"/>
          <a:stretch>
            <a:fillRect/>
          </a:stretch>
        </p:blipFill>
        <p:spPr>
          <a:xfrm>
            <a:off x="6858000" y="2286000"/>
            <a:ext cx="1737360" cy="875081"/>
          </a:xfrm>
          <a:prstGeom prst="rect">
            <a:avLst/>
          </a:prstGeom>
        </p:spPr>
      </p:pic>
      <p:sp>
        <p:nvSpPr>
          <p:cNvPr id="44" name="Shape 37"/>
          <p:cNvSpPr/>
          <p:nvPr/>
        </p:nvSpPr>
        <p:spPr>
          <a:xfrm>
            <a:off x="6858000" y="2286000"/>
            <a:ext cx="1737360" cy="875081"/>
          </a:xfrm>
          <a:prstGeom prst="rect">
            <a:avLst/>
          </a:prstGeom>
          <a:ln w="9525">
            <a:solidFill>
              <a:srgbClr val="C9D1D9"/>
            </a:solidFill>
            <a:prstDash val="solid"/>
          </a:ln>
        </p:spPr>
      </p:sp>
      <p:sp>
        <p:nvSpPr>
          <p:cNvPr id="45" name="Text 38"/>
          <p:cNvSpPr txBox="1"/>
          <p:nvPr/>
        </p:nvSpPr>
        <p:spPr>
          <a:xfrm>
            <a:off x="6876288" y="3255264"/>
            <a:ext cx="1719072" cy="310896"/>
          </a:xfrm>
          <a:prstGeom prst="rect">
            <a:avLst/>
          </a:prstGeom>
          <a:noFill/>
          <a:ln/>
        </p:spPr>
        <p:txBody>
          <a:bodyPr wrap="square" lIns="0" tIns="0" rIns="0" bIns="0" rtlCol="0" anchor="ctr"/>
          <a:lstStyle/>
          <a:p>
            <a:pPr marL="0" indent="0">
              <a:buNone/>
            </a:pPr>
            <a:r>
              <a:rPr lang="en-US" sz="2100" b="1" dirty="0">
                <a:solidFill>
                  <a:schemeClr val="accent1"/>
                </a:solidFill>
                <a:latin typeface="Calibri" pitchFamily="34" charset="0"/>
                <a:ea typeface="Calibri" pitchFamily="34" charset="-122"/>
                <a:cs typeface="Calibri" pitchFamily="34" charset="-120"/>
              </a:rPr>
              <a:t>144.95 min</a:t>
            </a:r>
            <a:endParaRPr lang="en-US" sz="2100" dirty="0"/>
          </a:p>
        </p:txBody>
      </p:sp>
      <p:sp>
        <p:nvSpPr>
          <p:cNvPr id="46" name="Text 39"/>
          <p:cNvSpPr txBox="1"/>
          <p:nvPr/>
        </p:nvSpPr>
        <p:spPr>
          <a:xfrm>
            <a:off x="6876288" y="3584448"/>
            <a:ext cx="1719072" cy="329184"/>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longest average delay: Late Incoming Rake</a:t>
            </a:r>
            <a:endParaRPr lang="en-US" sz="1000" dirty="0"/>
          </a:p>
        </p:txBody>
      </p:sp>
      <p:sp>
        <p:nvSpPr>
          <p:cNvPr id="47" name="Text 40"/>
          <p:cNvSpPr txBox="1"/>
          <p:nvPr/>
        </p:nvSpPr>
        <p:spPr>
          <a:xfrm>
            <a:off x="6876288" y="3950208"/>
            <a:ext cx="1719072" cy="658368"/>
          </a:xfrm>
          <a:prstGeom prst="rect">
            <a:avLst/>
          </a:prstGeom>
          <a:noFill/>
          <a:ln/>
        </p:spPr>
        <p:txBody>
          <a:bodyPr wrap="square" lIns="0" tIns="0" rIns="0" bIns="0" rtlCol="0" anchor="t"/>
          <a:lstStyle/>
          <a:p>
            <a:pPr marL="0" indent="0">
              <a:spcAft>
                <a:spcPts val="300"/>
              </a:spcAft>
              <a:buNone/>
            </a:pPr>
            <a:r>
              <a:rPr lang="en-US" sz="1000" dirty="0">
                <a:solidFill>
                  <a:schemeClr val="accent6"/>
                </a:solidFill>
                <a:latin typeface="Calibri" pitchFamily="34" charset="0"/>
                <a:ea typeface="Calibri" pitchFamily="34" charset="-122"/>
                <a:cs typeface="Calibri" pitchFamily="34" charset="-120"/>
              </a:rPr>
              <a:t>On Time is left out of the chart</a:t>
            </a:r>
            <a:endParaRPr lang="en-US" sz="1000" dirty="0"/>
          </a:p>
          <a:p>
            <a:pPr marL="0" indent="0">
              <a:spcAft>
                <a:spcPts val="300"/>
              </a:spcAft>
              <a:buNone/>
            </a:pPr>
            <a:r>
              <a:rPr lang="en-US" sz="1000" dirty="0">
                <a:solidFill>
                  <a:schemeClr val="accent6"/>
                </a:solidFill>
                <a:latin typeface="Calibri" pitchFamily="34" charset="0"/>
                <a:ea typeface="Calibri" pitchFamily="34" charset="-122"/>
                <a:cs typeface="Calibri" pitchFamily="34" charset="-120"/>
              </a:rPr>
              <a:t>Every listed cause has a 100% delay rate</a:t>
            </a:r>
            <a:endParaRPr lang="en-US" sz="1000" dirty="0"/>
          </a:p>
        </p:txBody>
      </p:sp>
      <p:sp>
        <p:nvSpPr>
          <p:cNvPr id="48" name="Current station marker"/>
          <p:cNvSpPr/>
          <p:nvPr/>
        </p:nvSpPr>
        <p:spPr>
          <a:xfrm>
            <a:off x="6213348"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8</a:t>
            </a:fld>
            <a:endParaRPr lang="en-US"/>
          </a:p>
        </p:txBody>
      </p:sp>
      <p:pic>
        <p:nvPicPr>
          <p:cNvPr id="49" name="Picture 48">
            <a:extLst>
              <a:ext uri="{FF2B5EF4-FFF2-40B4-BE49-F238E27FC236}">
                <a16:creationId xmlns:a16="http://schemas.microsoft.com/office/drawing/2014/main" id="{05B4A5F6-1B17-7034-E8A7-2A4AD677687C}"/>
              </a:ext>
            </a:extLst>
          </p:cNvPr>
          <p:cNvPicPr>
            <a:picLocks noChangeAspect="1"/>
          </p:cNvPicPr>
          <p:nvPr/>
        </p:nvPicPr>
        <p:blipFill>
          <a:blip r:embed="rId7"/>
          <a:stretch>
            <a:fillRect/>
          </a:stretch>
        </p:blipFill>
        <p:spPr>
          <a:xfrm>
            <a:off x="4757348" y="2282933"/>
            <a:ext cx="1737674" cy="8788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09  |  RESULTS</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Results, Limitations and Future Scope</a:t>
            </a:r>
            <a:endParaRPr lang="en-US" sz="2400" dirty="0"/>
          </a:p>
        </p:txBody>
      </p:sp>
      <p:sp>
        <p:nvSpPr>
          <p:cNvPr id="5" name="Shape 2"/>
          <p:cNvSpPr/>
          <p:nvPr/>
        </p:nvSpPr>
        <p:spPr>
          <a:xfrm>
            <a:off x="457200" y="1033272"/>
            <a:ext cx="603504" cy="219456"/>
          </a:xfrm>
          <a:prstGeom prst="roundRect">
            <a:avLst>
              <a:gd name="adj" fmla="val 50000"/>
            </a:avLst>
          </a:prstGeom>
          <a:solidFill>
            <a:schemeClr val="tx1"/>
          </a:solidFill>
          <a:ln w="12700">
            <a:solidFill>
              <a:schemeClr val="accent3"/>
            </a:solidFill>
            <a:prstDash val="solid"/>
          </a:ln>
        </p:spPr>
      </p:sp>
      <p:sp>
        <p:nvSpPr>
          <p:cNvPr id="6" name="Shape 3"/>
          <p:cNvSpPr/>
          <p:nvPr/>
        </p:nvSpPr>
        <p:spPr>
          <a:xfrm>
            <a:off x="521208" y="1078992"/>
            <a:ext cx="128016" cy="128016"/>
          </a:xfrm>
          <a:prstGeom prst="ellipse">
            <a:avLst/>
          </a:prstGeom>
          <a:solidFill>
            <a:srgbClr val="3A4A5E"/>
          </a:solidFill>
          <a:ln w="12700">
            <a:solidFill>
              <a:srgbClr val="3A4A5E"/>
            </a:solidFill>
            <a:prstDash val="solid"/>
          </a:ln>
        </p:spPr>
      </p:sp>
      <p:sp>
        <p:nvSpPr>
          <p:cNvPr id="7" name="Shape 4"/>
          <p:cNvSpPr/>
          <p:nvPr/>
        </p:nvSpPr>
        <p:spPr>
          <a:xfrm>
            <a:off x="704088" y="1078992"/>
            <a:ext cx="128016" cy="128016"/>
          </a:xfrm>
          <a:prstGeom prst="ellipse">
            <a:avLst/>
          </a:prstGeom>
          <a:solidFill>
            <a:srgbClr val="3A4A5E"/>
          </a:solidFill>
          <a:ln w="12700">
            <a:solidFill>
              <a:srgbClr val="3A4A5E"/>
            </a:solidFill>
            <a:prstDash val="solid"/>
          </a:ln>
        </p:spPr>
      </p:sp>
      <p:sp>
        <p:nvSpPr>
          <p:cNvPr id="8" name="Shape 5"/>
          <p:cNvSpPr/>
          <p:nvPr/>
        </p:nvSpPr>
        <p:spPr>
          <a:xfrm>
            <a:off x="886968" y="1078992"/>
            <a:ext cx="128016" cy="128016"/>
          </a:xfrm>
          <a:prstGeom prst="ellipse">
            <a:avLst/>
          </a:prstGeom>
          <a:solidFill>
            <a:srgbClr val="2FB36B"/>
          </a:solidFill>
          <a:ln w="12700">
            <a:solidFill>
              <a:srgbClr val="2FB36B"/>
            </a:solidFill>
            <a:prstDash val="solid"/>
          </a:ln>
        </p:spPr>
      </p:sp>
      <p:sp>
        <p:nvSpPr>
          <p:cNvPr id="9" name="Text 6"/>
          <p:cNvSpPr txBox="1"/>
          <p:nvPr/>
        </p:nvSpPr>
        <p:spPr>
          <a:xfrm>
            <a:off x="1170432" y="1005840"/>
            <a:ext cx="5486400" cy="274320"/>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Results  </a:t>
            </a:r>
            <a:r>
              <a:rPr lang="en-US" sz="1100" dirty="0">
                <a:solidFill>
                  <a:schemeClr val="accent6"/>
                </a:solidFill>
                <a:latin typeface="Calibri" pitchFamily="34" charset="0"/>
                <a:ea typeface="Calibri" pitchFamily="34" charset="-122"/>
                <a:cs typeface="Calibri" pitchFamily="34" charset="-120"/>
              </a:rPr>
              <a:t>Confirmed from this dataset</a:t>
            </a:r>
            <a:endParaRPr lang="en-US" sz="1150" dirty="0"/>
          </a:p>
        </p:txBody>
      </p:sp>
      <p:sp>
        <p:nvSpPr>
          <p:cNvPr id="10" name="Shape 7"/>
          <p:cNvSpPr/>
          <p:nvPr/>
        </p:nvSpPr>
        <p:spPr>
          <a:xfrm>
            <a:off x="457200" y="1371600"/>
            <a:ext cx="1920240" cy="1078992"/>
          </a:xfrm>
          <a:prstGeom prst="roundRect">
            <a:avLst>
              <a:gd name="adj" fmla="val 5085"/>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11" name="Text 8"/>
          <p:cNvSpPr txBox="1"/>
          <p:nvPr/>
        </p:nvSpPr>
        <p:spPr>
          <a:xfrm>
            <a:off x="566928" y="1435608"/>
            <a:ext cx="1737360" cy="155448"/>
          </a:xfrm>
          <a:prstGeom prst="rect">
            <a:avLst/>
          </a:prstGeom>
          <a:noFill/>
          <a:ln/>
        </p:spPr>
        <p:txBody>
          <a:bodyPr wrap="square" lIns="0" tIns="0" rIns="0" bIns="0" rtlCol="0" anchor="t"/>
          <a:lstStyle/>
          <a:p>
            <a:pPr marL="0" indent="0">
              <a:buNone/>
            </a:pPr>
            <a:r>
              <a:rPr lang="en-US" sz="850" b="1" kern="0" spc="50" dirty="0">
                <a:solidFill>
                  <a:schemeClr val="accent5"/>
                </a:solidFill>
                <a:latin typeface="Courier New" pitchFamily="34" charset="0"/>
                <a:ea typeface="Courier New" pitchFamily="34" charset="-122"/>
                <a:cs typeface="Courier New" pitchFamily="34" charset="-120"/>
              </a:rPr>
              <a:t>OVERALL DELAY RATE</a:t>
            </a:r>
            <a:endParaRPr lang="en-US" sz="850" dirty="0"/>
          </a:p>
        </p:txBody>
      </p:sp>
      <p:sp>
        <p:nvSpPr>
          <p:cNvPr id="12" name="Text 9"/>
          <p:cNvSpPr txBox="1"/>
          <p:nvPr/>
        </p:nvSpPr>
        <p:spPr>
          <a:xfrm>
            <a:off x="566928" y="1609344"/>
            <a:ext cx="1737360" cy="384048"/>
          </a:xfrm>
          <a:prstGeom prst="rect">
            <a:avLst/>
          </a:prstGeom>
          <a:noFill/>
          <a:ln/>
        </p:spPr>
        <p:txBody>
          <a:bodyPr wrap="square" lIns="0" tIns="0" rIns="0" bIns="0" rtlCol="0" anchor="ctr"/>
          <a:lstStyle/>
          <a:p>
            <a:pPr marL="0" indent="0">
              <a:buNone/>
            </a:pPr>
            <a:r>
              <a:rPr lang="en-US" sz="2500" b="1" dirty="0">
                <a:solidFill>
                  <a:schemeClr val="accent4"/>
                </a:solidFill>
                <a:latin typeface="Courier New" pitchFamily="34" charset="0"/>
                <a:ea typeface="Courier New" pitchFamily="34" charset="-122"/>
                <a:cs typeface="Courier New" pitchFamily="34" charset="-120"/>
              </a:rPr>
              <a:t>71.89%</a:t>
            </a:r>
            <a:endParaRPr lang="en-US" sz="1150" dirty="0"/>
          </a:p>
        </p:txBody>
      </p:sp>
      <p:sp>
        <p:nvSpPr>
          <p:cNvPr id="13" name="Text 10"/>
          <p:cNvSpPr txBox="1"/>
          <p:nvPr/>
        </p:nvSpPr>
        <p:spPr>
          <a:xfrm>
            <a:off x="566928" y="2011680"/>
            <a:ext cx="1737360" cy="384048"/>
          </a:xfrm>
          <a:prstGeom prst="rect">
            <a:avLst/>
          </a:prstGeom>
          <a:noFill/>
          <a:ln/>
        </p:spPr>
        <p:txBody>
          <a:bodyPr wrap="square" lIns="0" tIns="0" rIns="0" bIns="0" rtlCol="0" anchor="t"/>
          <a:lstStyle/>
          <a:p>
            <a:pPr marL="0" indent="0">
              <a:buNone/>
            </a:pPr>
            <a:r>
              <a:rPr lang="en-US" sz="1000" dirty="0">
                <a:solidFill>
                  <a:schemeClr val="bg1"/>
                </a:solidFill>
                <a:latin typeface="Calibri" pitchFamily="34" charset="0"/>
                <a:ea typeface="Calibri" pitchFamily="34" charset="-122"/>
                <a:cs typeface="Calibri" pitchFamily="34" charset="-120"/>
              </a:rPr>
              <a:t>1,078,329 of 1,500,000 journeys</a:t>
            </a:r>
            <a:endParaRPr lang="en-US" sz="1000" dirty="0"/>
          </a:p>
        </p:txBody>
      </p:sp>
      <p:sp>
        <p:nvSpPr>
          <p:cNvPr id="14" name="Shape 11"/>
          <p:cNvSpPr/>
          <p:nvPr/>
        </p:nvSpPr>
        <p:spPr>
          <a:xfrm>
            <a:off x="2560320" y="1371600"/>
            <a:ext cx="1920240" cy="1078992"/>
          </a:xfrm>
          <a:prstGeom prst="roundRect">
            <a:avLst>
              <a:gd name="adj" fmla="val 5085"/>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15" name="Text 12"/>
          <p:cNvSpPr txBox="1"/>
          <p:nvPr/>
        </p:nvSpPr>
        <p:spPr>
          <a:xfrm>
            <a:off x="2670048" y="1435608"/>
            <a:ext cx="1737360" cy="155448"/>
          </a:xfrm>
          <a:prstGeom prst="rect">
            <a:avLst/>
          </a:prstGeom>
          <a:noFill/>
          <a:ln/>
        </p:spPr>
        <p:txBody>
          <a:bodyPr wrap="square" lIns="0" tIns="0" rIns="0" bIns="0" rtlCol="0" anchor="t"/>
          <a:lstStyle/>
          <a:p>
            <a:pPr marL="0" indent="0">
              <a:buNone/>
            </a:pPr>
            <a:r>
              <a:rPr lang="en-US" sz="850" b="1" kern="0" spc="50" dirty="0">
                <a:solidFill>
                  <a:schemeClr val="accent5"/>
                </a:solidFill>
                <a:latin typeface="Courier New" pitchFamily="34" charset="0"/>
                <a:ea typeface="Courier New" pitchFamily="34" charset="-122"/>
                <a:cs typeface="Courier New" pitchFamily="34" charset="-120"/>
              </a:rPr>
              <a:t>HIGHEST ZONE</a:t>
            </a:r>
            <a:endParaRPr lang="en-US" sz="850" dirty="0"/>
          </a:p>
        </p:txBody>
      </p:sp>
      <p:sp>
        <p:nvSpPr>
          <p:cNvPr id="16" name="Text 13"/>
          <p:cNvSpPr txBox="1"/>
          <p:nvPr/>
        </p:nvSpPr>
        <p:spPr>
          <a:xfrm>
            <a:off x="2670048" y="1609344"/>
            <a:ext cx="1737360" cy="384048"/>
          </a:xfrm>
          <a:prstGeom prst="rect">
            <a:avLst/>
          </a:prstGeom>
          <a:noFill/>
          <a:ln/>
        </p:spPr>
        <p:txBody>
          <a:bodyPr wrap="square" lIns="0" tIns="0" rIns="0" bIns="0" rtlCol="0" anchor="ctr"/>
          <a:lstStyle/>
          <a:p>
            <a:pPr marL="0" indent="0">
              <a:buNone/>
            </a:pPr>
            <a:r>
              <a:rPr lang="en-US" sz="2500" b="1" dirty="0">
                <a:solidFill>
                  <a:schemeClr val="accent4"/>
                </a:solidFill>
                <a:latin typeface="Courier New" pitchFamily="34" charset="0"/>
                <a:ea typeface="Courier New" pitchFamily="34" charset="-122"/>
                <a:cs typeface="Courier New" pitchFamily="34" charset="-120"/>
              </a:rPr>
              <a:t>89.32%</a:t>
            </a:r>
            <a:endParaRPr lang="en-US" sz="1150" dirty="0"/>
          </a:p>
        </p:txBody>
      </p:sp>
      <p:sp>
        <p:nvSpPr>
          <p:cNvPr id="17" name="Text 14"/>
          <p:cNvSpPr txBox="1"/>
          <p:nvPr/>
        </p:nvSpPr>
        <p:spPr>
          <a:xfrm>
            <a:off x="2670048" y="2011680"/>
            <a:ext cx="1737360" cy="384048"/>
          </a:xfrm>
          <a:prstGeom prst="rect">
            <a:avLst/>
          </a:prstGeom>
          <a:noFill/>
          <a:ln/>
        </p:spPr>
        <p:txBody>
          <a:bodyPr wrap="square" lIns="0" tIns="0" rIns="0" bIns="0" rtlCol="0" anchor="t"/>
          <a:lstStyle/>
          <a:p>
            <a:pPr marL="0" indent="0">
              <a:buNone/>
            </a:pPr>
            <a:r>
              <a:rPr lang="en-US" sz="1000" dirty="0">
                <a:solidFill>
                  <a:schemeClr val="bg1"/>
                </a:solidFill>
                <a:latin typeface="Calibri" pitchFamily="34" charset="0"/>
                <a:ea typeface="Calibri" pitchFamily="34" charset="-122"/>
                <a:cs typeface="Calibri" pitchFamily="34" charset="-120"/>
              </a:rPr>
              <a:t>Eastern Railway</a:t>
            </a:r>
            <a:endParaRPr lang="en-US" sz="1000" dirty="0"/>
          </a:p>
        </p:txBody>
      </p:sp>
      <p:sp>
        <p:nvSpPr>
          <p:cNvPr id="18" name="Shape 15"/>
          <p:cNvSpPr/>
          <p:nvPr/>
        </p:nvSpPr>
        <p:spPr>
          <a:xfrm>
            <a:off x="4663440" y="1371600"/>
            <a:ext cx="1920240" cy="1078992"/>
          </a:xfrm>
          <a:prstGeom prst="roundRect">
            <a:avLst>
              <a:gd name="adj" fmla="val 5085"/>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19" name="Text 16"/>
          <p:cNvSpPr txBox="1"/>
          <p:nvPr/>
        </p:nvSpPr>
        <p:spPr>
          <a:xfrm>
            <a:off x="4773168" y="1435608"/>
            <a:ext cx="1737360" cy="155448"/>
          </a:xfrm>
          <a:prstGeom prst="rect">
            <a:avLst/>
          </a:prstGeom>
          <a:noFill/>
          <a:ln/>
        </p:spPr>
        <p:txBody>
          <a:bodyPr wrap="square" lIns="0" tIns="0" rIns="0" bIns="0" rtlCol="0" anchor="t"/>
          <a:lstStyle/>
          <a:p>
            <a:pPr marL="0" indent="0">
              <a:buNone/>
            </a:pPr>
            <a:r>
              <a:rPr lang="en-US" sz="850" b="1" kern="0" spc="50" dirty="0">
                <a:solidFill>
                  <a:schemeClr val="accent5"/>
                </a:solidFill>
                <a:latin typeface="Courier New" pitchFamily="34" charset="0"/>
                <a:ea typeface="Courier New" pitchFamily="34" charset="-122"/>
                <a:cs typeface="Courier New" pitchFamily="34" charset="-120"/>
              </a:rPr>
              <a:t>HIGHEST TRAIN TYPE</a:t>
            </a:r>
            <a:endParaRPr lang="en-US" sz="850" dirty="0"/>
          </a:p>
        </p:txBody>
      </p:sp>
      <p:sp>
        <p:nvSpPr>
          <p:cNvPr id="20" name="Text 17"/>
          <p:cNvSpPr txBox="1"/>
          <p:nvPr/>
        </p:nvSpPr>
        <p:spPr>
          <a:xfrm>
            <a:off x="4773168" y="1609344"/>
            <a:ext cx="1737360" cy="384048"/>
          </a:xfrm>
          <a:prstGeom prst="rect">
            <a:avLst/>
          </a:prstGeom>
          <a:noFill/>
          <a:ln/>
        </p:spPr>
        <p:txBody>
          <a:bodyPr wrap="square" lIns="0" tIns="0" rIns="0" bIns="0" rtlCol="0" anchor="ctr"/>
          <a:lstStyle/>
          <a:p>
            <a:pPr marL="0" indent="0">
              <a:buNone/>
            </a:pPr>
            <a:r>
              <a:rPr lang="en-US" sz="2500" b="1" dirty="0">
                <a:solidFill>
                  <a:schemeClr val="accent4"/>
                </a:solidFill>
                <a:latin typeface="Courier New" pitchFamily="34" charset="0"/>
                <a:ea typeface="Courier New" pitchFamily="34" charset="-122"/>
                <a:cs typeface="Courier New" pitchFamily="34" charset="-120"/>
              </a:rPr>
              <a:t>88.04%</a:t>
            </a:r>
            <a:endParaRPr lang="en-US" sz="1150" dirty="0"/>
          </a:p>
        </p:txBody>
      </p:sp>
      <p:sp>
        <p:nvSpPr>
          <p:cNvPr id="21" name="Text 18"/>
          <p:cNvSpPr txBox="1"/>
          <p:nvPr/>
        </p:nvSpPr>
        <p:spPr>
          <a:xfrm>
            <a:off x="4773168" y="2011680"/>
            <a:ext cx="1737360" cy="384048"/>
          </a:xfrm>
          <a:prstGeom prst="rect">
            <a:avLst/>
          </a:prstGeom>
          <a:noFill/>
          <a:ln/>
        </p:spPr>
        <p:txBody>
          <a:bodyPr wrap="square" lIns="0" tIns="0" rIns="0" bIns="0" rtlCol="0" anchor="t"/>
          <a:lstStyle/>
          <a:p>
            <a:pPr marL="0" indent="0">
              <a:buNone/>
            </a:pPr>
            <a:r>
              <a:rPr lang="en-US" sz="1000" dirty="0">
                <a:solidFill>
                  <a:schemeClr val="bg1"/>
                </a:solidFill>
                <a:latin typeface="Calibri" pitchFamily="34" charset="0"/>
                <a:ea typeface="Calibri" pitchFamily="34" charset="-122"/>
                <a:cs typeface="Calibri" pitchFamily="34" charset="-120"/>
              </a:rPr>
              <a:t>Passenger Train</a:t>
            </a:r>
            <a:endParaRPr lang="en-US" sz="1000" dirty="0"/>
          </a:p>
        </p:txBody>
      </p:sp>
      <p:sp>
        <p:nvSpPr>
          <p:cNvPr id="22" name="Shape 19"/>
          <p:cNvSpPr/>
          <p:nvPr/>
        </p:nvSpPr>
        <p:spPr>
          <a:xfrm>
            <a:off x="6766560" y="1371600"/>
            <a:ext cx="1920240" cy="1078992"/>
          </a:xfrm>
          <a:prstGeom prst="roundRect">
            <a:avLst>
              <a:gd name="adj" fmla="val 5085"/>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23" name="Text 20"/>
          <p:cNvSpPr txBox="1"/>
          <p:nvPr/>
        </p:nvSpPr>
        <p:spPr>
          <a:xfrm>
            <a:off x="6876288" y="1435608"/>
            <a:ext cx="1737360" cy="155448"/>
          </a:xfrm>
          <a:prstGeom prst="rect">
            <a:avLst/>
          </a:prstGeom>
          <a:noFill/>
          <a:ln/>
        </p:spPr>
        <p:txBody>
          <a:bodyPr wrap="square" lIns="0" tIns="0" rIns="0" bIns="0" rtlCol="0" anchor="t"/>
          <a:lstStyle/>
          <a:p>
            <a:pPr marL="0" indent="0">
              <a:buNone/>
            </a:pPr>
            <a:r>
              <a:rPr lang="en-US" sz="850" b="1" kern="0" spc="50" dirty="0">
                <a:solidFill>
                  <a:schemeClr val="accent5"/>
                </a:solidFill>
                <a:latin typeface="Courier New" pitchFamily="34" charset="0"/>
                <a:ea typeface="Courier New" pitchFamily="34" charset="-122"/>
                <a:cs typeface="Courier New" pitchFamily="34" charset="-120"/>
              </a:rPr>
              <a:t>LONGEST AVERAGE DELAY</a:t>
            </a:r>
            <a:endParaRPr lang="en-US" sz="850" dirty="0"/>
          </a:p>
        </p:txBody>
      </p:sp>
      <p:sp>
        <p:nvSpPr>
          <p:cNvPr id="24" name="Text 21"/>
          <p:cNvSpPr txBox="1"/>
          <p:nvPr/>
        </p:nvSpPr>
        <p:spPr>
          <a:xfrm>
            <a:off x="6876288" y="1609344"/>
            <a:ext cx="1737360" cy="384048"/>
          </a:xfrm>
          <a:prstGeom prst="rect">
            <a:avLst/>
          </a:prstGeom>
          <a:noFill/>
          <a:ln/>
        </p:spPr>
        <p:txBody>
          <a:bodyPr wrap="square" lIns="0" tIns="0" rIns="0" bIns="0" rtlCol="0" anchor="ctr"/>
          <a:lstStyle/>
          <a:p>
            <a:pPr marL="0" indent="0">
              <a:buNone/>
            </a:pPr>
            <a:r>
              <a:rPr lang="en-US" sz="2500" b="1" dirty="0">
                <a:solidFill>
                  <a:schemeClr val="accent4"/>
                </a:solidFill>
                <a:latin typeface="Courier New" pitchFamily="34" charset="0"/>
                <a:ea typeface="Courier New" pitchFamily="34" charset="-122"/>
                <a:cs typeface="Courier New" pitchFamily="34" charset="-120"/>
              </a:rPr>
              <a:t>144.95</a:t>
            </a:r>
            <a:r>
              <a:rPr lang="en-US" sz="1200" dirty="0">
                <a:solidFill>
                  <a:schemeClr val="accent5"/>
                </a:solidFill>
                <a:latin typeface="Calibri" pitchFamily="34" charset="0"/>
                <a:ea typeface="Calibri" pitchFamily="34" charset="-122"/>
                <a:cs typeface="Calibri" pitchFamily="34" charset="-120"/>
              </a:rPr>
              <a:t> min</a:t>
            </a:r>
            <a:endParaRPr lang="en-US" sz="1150" dirty="0"/>
          </a:p>
        </p:txBody>
      </p:sp>
      <p:sp>
        <p:nvSpPr>
          <p:cNvPr id="25" name="Text 22"/>
          <p:cNvSpPr txBox="1"/>
          <p:nvPr/>
        </p:nvSpPr>
        <p:spPr>
          <a:xfrm>
            <a:off x="6876288" y="2011680"/>
            <a:ext cx="1737360" cy="384048"/>
          </a:xfrm>
          <a:prstGeom prst="rect">
            <a:avLst/>
          </a:prstGeom>
          <a:noFill/>
          <a:ln/>
        </p:spPr>
        <p:txBody>
          <a:bodyPr wrap="square" lIns="0" tIns="0" rIns="0" bIns="0" rtlCol="0" anchor="t"/>
          <a:lstStyle/>
          <a:p>
            <a:pPr marL="0" indent="0">
              <a:buNone/>
            </a:pPr>
            <a:r>
              <a:rPr lang="en-US" sz="1000" dirty="0">
                <a:solidFill>
                  <a:schemeClr val="bg1"/>
                </a:solidFill>
                <a:latin typeface="Calibri" pitchFamily="34" charset="0"/>
                <a:ea typeface="Calibri" pitchFamily="34" charset="-122"/>
                <a:cs typeface="Calibri" pitchFamily="34" charset="-120"/>
              </a:rPr>
              <a:t>Late Incoming Rake</a:t>
            </a:r>
            <a:endParaRPr lang="en-US" sz="1000" dirty="0"/>
          </a:p>
        </p:txBody>
      </p:sp>
      <p:pic>
        <p:nvPicPr>
          <p:cNvPr id="26" name="Image 0" descr="Night icon"/>
          <p:cNvPicPr>
            <a:picLocks noChangeAspect="1"/>
          </p:cNvPicPr>
          <p:nvPr/>
        </p:nvPicPr>
        <p:blipFill>
          <a:blip r:embed="rId3"/>
          <a:stretch>
            <a:fillRect/>
          </a:stretch>
        </p:blipFill>
        <p:spPr>
          <a:xfrm>
            <a:off x="475488" y="2560320"/>
            <a:ext cx="155448" cy="155448"/>
          </a:xfrm>
          <a:prstGeom prst="rect">
            <a:avLst/>
          </a:prstGeom>
        </p:spPr>
      </p:pic>
      <p:sp>
        <p:nvSpPr>
          <p:cNvPr id="27" name="Text 23"/>
          <p:cNvSpPr txBox="1"/>
          <p:nvPr/>
        </p:nvSpPr>
        <p:spPr>
          <a:xfrm>
            <a:off x="713232" y="2532888"/>
            <a:ext cx="5486400" cy="219456"/>
          </a:xfrm>
          <a:prstGeom prst="rect">
            <a:avLst/>
          </a:prstGeom>
          <a:noFill/>
          <a:ln/>
        </p:spPr>
        <p:txBody>
          <a:bodyPr wrap="square" lIns="0" tIns="0" rIns="0" bIns="0" rtlCol="0" anchor="ctr"/>
          <a:lstStyle/>
          <a:p>
            <a:pPr marL="0" indent="0">
              <a:buNone/>
            </a:pPr>
            <a:r>
              <a:rPr lang="en-US" sz="1200" b="1" dirty="0">
                <a:solidFill>
                  <a:schemeClr val="tx1"/>
                </a:solidFill>
                <a:latin typeface="Calibri" pitchFamily="34" charset="0"/>
                <a:ea typeface="Calibri" pitchFamily="34" charset="-122"/>
                <a:cs typeface="Calibri" pitchFamily="34" charset="-120"/>
              </a:rPr>
              <a:t>Night departures (00 to 04 h) have higher delay rates.</a:t>
            </a:r>
            <a:endParaRPr lang="en-US" sz="1200" dirty="0"/>
          </a:p>
        </p:txBody>
      </p:sp>
      <p:sp>
        <p:nvSpPr>
          <p:cNvPr id="28" name="Shape 24"/>
          <p:cNvSpPr/>
          <p:nvPr/>
        </p:nvSpPr>
        <p:spPr>
          <a:xfrm>
            <a:off x="457200" y="2852928"/>
            <a:ext cx="4023360" cy="1764792"/>
          </a:xfrm>
          <a:prstGeom prst="roundRect">
            <a:avLst>
              <a:gd name="adj" fmla="val 3109"/>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29" name="Shape 25"/>
          <p:cNvSpPr/>
          <p:nvPr/>
        </p:nvSpPr>
        <p:spPr>
          <a:xfrm>
            <a:off x="621792" y="2971800"/>
            <a:ext cx="603504" cy="219456"/>
          </a:xfrm>
          <a:prstGeom prst="roundRect">
            <a:avLst>
              <a:gd name="adj" fmla="val 50000"/>
            </a:avLst>
          </a:prstGeom>
          <a:solidFill>
            <a:schemeClr val="tx1"/>
          </a:solidFill>
          <a:ln w="12700">
            <a:solidFill>
              <a:schemeClr val="accent3"/>
            </a:solidFill>
            <a:prstDash val="solid"/>
          </a:ln>
        </p:spPr>
      </p:sp>
      <p:sp>
        <p:nvSpPr>
          <p:cNvPr id="30" name="Shape 26"/>
          <p:cNvSpPr/>
          <p:nvPr/>
        </p:nvSpPr>
        <p:spPr>
          <a:xfrm>
            <a:off x="685800" y="3017520"/>
            <a:ext cx="128016" cy="128016"/>
          </a:xfrm>
          <a:prstGeom prst="ellipse">
            <a:avLst/>
          </a:prstGeom>
          <a:solidFill>
            <a:srgbClr val="C8102E"/>
          </a:solidFill>
          <a:ln w="12700">
            <a:solidFill>
              <a:srgbClr val="C8102E"/>
            </a:solidFill>
            <a:prstDash val="solid"/>
          </a:ln>
        </p:spPr>
      </p:sp>
      <p:sp>
        <p:nvSpPr>
          <p:cNvPr id="31" name="Shape 27"/>
          <p:cNvSpPr/>
          <p:nvPr/>
        </p:nvSpPr>
        <p:spPr>
          <a:xfrm>
            <a:off x="868680" y="3017520"/>
            <a:ext cx="128016" cy="128016"/>
          </a:xfrm>
          <a:prstGeom prst="ellipse">
            <a:avLst/>
          </a:prstGeom>
          <a:solidFill>
            <a:srgbClr val="3A4A5E"/>
          </a:solidFill>
          <a:ln w="12700">
            <a:solidFill>
              <a:srgbClr val="3A4A5E"/>
            </a:solidFill>
            <a:prstDash val="solid"/>
          </a:ln>
        </p:spPr>
      </p:sp>
      <p:sp>
        <p:nvSpPr>
          <p:cNvPr id="32" name="Shape 28"/>
          <p:cNvSpPr/>
          <p:nvPr/>
        </p:nvSpPr>
        <p:spPr>
          <a:xfrm>
            <a:off x="1051560" y="3017520"/>
            <a:ext cx="128016" cy="128016"/>
          </a:xfrm>
          <a:prstGeom prst="ellipse">
            <a:avLst/>
          </a:prstGeom>
          <a:solidFill>
            <a:srgbClr val="3A4A5E"/>
          </a:solidFill>
          <a:ln w="12700">
            <a:solidFill>
              <a:srgbClr val="3A4A5E"/>
            </a:solidFill>
            <a:prstDash val="solid"/>
          </a:ln>
        </p:spPr>
      </p:sp>
      <p:sp>
        <p:nvSpPr>
          <p:cNvPr id="33" name="Text 29"/>
          <p:cNvSpPr txBox="1"/>
          <p:nvPr/>
        </p:nvSpPr>
        <p:spPr>
          <a:xfrm>
            <a:off x="1335024" y="2944368"/>
            <a:ext cx="3108960" cy="274320"/>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Limitations  </a:t>
            </a:r>
            <a:r>
              <a:rPr lang="en-US" sz="1050" dirty="0">
                <a:solidFill>
                  <a:schemeClr val="accent6"/>
                </a:solidFill>
                <a:latin typeface="Calibri" pitchFamily="34" charset="0"/>
                <a:ea typeface="Calibri" pitchFamily="34" charset="-122"/>
                <a:cs typeface="Calibri" pitchFamily="34" charset="-120"/>
              </a:rPr>
              <a:t>What this project does not do</a:t>
            </a:r>
            <a:endParaRPr lang="en-US" sz="1150" dirty="0"/>
          </a:p>
        </p:txBody>
      </p:sp>
      <p:sp>
        <p:nvSpPr>
          <p:cNvPr id="34" name="Text 30"/>
          <p:cNvSpPr txBox="1"/>
          <p:nvPr/>
        </p:nvSpPr>
        <p:spPr>
          <a:xfrm>
            <a:off x="640080" y="3310128"/>
            <a:ext cx="3657600" cy="123444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Synthetic data, not real railway data</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Batch analysis only, no real-time data</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Fixed summaries, no dashboard filters</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Local single-machine setup</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Descriptive only, no prediction</a:t>
            </a:r>
            <a:endParaRPr lang="en-US" sz="1150" dirty="0"/>
          </a:p>
        </p:txBody>
      </p:sp>
      <p:sp>
        <p:nvSpPr>
          <p:cNvPr id="35" name="Shape 31"/>
          <p:cNvSpPr/>
          <p:nvPr/>
        </p:nvSpPr>
        <p:spPr>
          <a:xfrm>
            <a:off x="4663440" y="2852928"/>
            <a:ext cx="4023360" cy="1764792"/>
          </a:xfrm>
          <a:prstGeom prst="roundRect">
            <a:avLst>
              <a:gd name="adj" fmla="val 3109"/>
            </a:avLst>
          </a:prstGeom>
          <a:solidFill>
            <a:schemeClr val="bg1"/>
          </a:solidFill>
          <a:ln w="15875">
            <a:solidFill>
              <a:schemeClr val="accent4"/>
            </a:solidFill>
            <a:prstDash val="dash"/>
          </a:ln>
          <a:effectLst>
            <a:outerShdw blurRad="76200" dist="19050" dir="5400000" algn="bl" rotWithShape="0">
              <a:srgbClr val="0B1F3A">
                <a:alpha val="12000"/>
              </a:srgbClr>
            </a:outerShdw>
          </a:effectLst>
        </p:spPr>
      </p:sp>
      <p:sp>
        <p:nvSpPr>
          <p:cNvPr id="36" name="Shape 32"/>
          <p:cNvSpPr/>
          <p:nvPr/>
        </p:nvSpPr>
        <p:spPr>
          <a:xfrm>
            <a:off x="4828032" y="2971800"/>
            <a:ext cx="603504" cy="219456"/>
          </a:xfrm>
          <a:prstGeom prst="roundRect">
            <a:avLst>
              <a:gd name="adj" fmla="val 50000"/>
            </a:avLst>
          </a:prstGeom>
          <a:solidFill>
            <a:schemeClr val="tx1"/>
          </a:solidFill>
          <a:ln w="12700">
            <a:solidFill>
              <a:schemeClr val="accent3"/>
            </a:solidFill>
            <a:prstDash val="solid"/>
          </a:ln>
        </p:spPr>
      </p:sp>
      <p:sp>
        <p:nvSpPr>
          <p:cNvPr id="37" name="Shape 33"/>
          <p:cNvSpPr/>
          <p:nvPr/>
        </p:nvSpPr>
        <p:spPr>
          <a:xfrm>
            <a:off x="4892040" y="3017520"/>
            <a:ext cx="128016" cy="128016"/>
          </a:xfrm>
          <a:prstGeom prst="ellipse">
            <a:avLst/>
          </a:prstGeom>
          <a:solidFill>
            <a:srgbClr val="3A4A5E"/>
          </a:solidFill>
          <a:ln w="12700">
            <a:solidFill>
              <a:srgbClr val="3A4A5E"/>
            </a:solidFill>
            <a:prstDash val="solid"/>
          </a:ln>
        </p:spPr>
      </p:sp>
      <p:sp>
        <p:nvSpPr>
          <p:cNvPr id="38" name="Shape 34"/>
          <p:cNvSpPr/>
          <p:nvPr/>
        </p:nvSpPr>
        <p:spPr>
          <a:xfrm>
            <a:off x="5074920" y="3017520"/>
            <a:ext cx="128016" cy="128016"/>
          </a:xfrm>
          <a:prstGeom prst="ellipse">
            <a:avLst/>
          </a:prstGeom>
          <a:solidFill>
            <a:srgbClr val="F2B705"/>
          </a:solidFill>
          <a:ln w="12700">
            <a:solidFill>
              <a:srgbClr val="F2B705"/>
            </a:solidFill>
            <a:prstDash val="solid"/>
          </a:ln>
        </p:spPr>
      </p:sp>
      <p:sp>
        <p:nvSpPr>
          <p:cNvPr id="39" name="Shape 35"/>
          <p:cNvSpPr/>
          <p:nvPr/>
        </p:nvSpPr>
        <p:spPr>
          <a:xfrm>
            <a:off x="5257800" y="3017520"/>
            <a:ext cx="128016" cy="128016"/>
          </a:xfrm>
          <a:prstGeom prst="ellipse">
            <a:avLst/>
          </a:prstGeom>
          <a:solidFill>
            <a:srgbClr val="3A4A5E"/>
          </a:solidFill>
          <a:ln w="12700">
            <a:solidFill>
              <a:srgbClr val="3A4A5E"/>
            </a:solidFill>
            <a:prstDash val="solid"/>
          </a:ln>
        </p:spPr>
      </p:sp>
      <p:sp>
        <p:nvSpPr>
          <p:cNvPr id="40" name="Text 36"/>
          <p:cNvSpPr txBox="1"/>
          <p:nvPr/>
        </p:nvSpPr>
        <p:spPr>
          <a:xfrm>
            <a:off x="5541264" y="2944368"/>
            <a:ext cx="1097280" cy="274320"/>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Future scope</a:t>
            </a:r>
            <a:endParaRPr lang="en-US" sz="1150" dirty="0"/>
          </a:p>
        </p:txBody>
      </p:sp>
      <p:sp>
        <p:nvSpPr>
          <p:cNvPr id="41" name="Text 37"/>
          <p:cNvSpPr txBox="1"/>
          <p:nvPr/>
        </p:nvSpPr>
        <p:spPr>
          <a:xfrm>
            <a:off x="4846320" y="3310128"/>
            <a:ext cx="3657600" cy="123444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Add a combiner to reduce shuffled data</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Add filters and more charts</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Use more columns, such as fog and season</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Test on real operational data</a:t>
            </a:r>
            <a:endParaRPr lang="en-US" sz="1150" dirty="0"/>
          </a:p>
          <a:p>
            <a:pPr marL="152400" indent="-1524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Run on a multi-node cluster</a:t>
            </a:r>
            <a:endParaRPr lang="en-US" sz="1150" dirty="0"/>
          </a:p>
        </p:txBody>
      </p:sp>
      <p:sp>
        <p:nvSpPr>
          <p:cNvPr id="42" name="Text 38"/>
          <p:cNvSpPr txBox="1"/>
          <p:nvPr/>
        </p:nvSpPr>
        <p:spPr>
          <a:xfrm>
            <a:off x="6629400" y="2971800"/>
            <a:ext cx="1783080" cy="219456"/>
          </a:xfrm>
          <a:prstGeom prst="roundRect">
            <a:avLst>
              <a:gd name="adj" fmla="val 20833"/>
            </a:avLst>
          </a:prstGeom>
          <a:solidFill>
            <a:schemeClr val="accent4"/>
          </a:solid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Proposed, not implemented</a:t>
            </a:r>
            <a:endParaRPr lang="en-US" sz="1000" dirty="0"/>
          </a:p>
        </p:txBody>
      </p:sp>
      <p:sp>
        <p:nvSpPr>
          <p:cNvPr id="43" name="Current station marker"/>
          <p:cNvSpPr/>
          <p:nvPr/>
        </p:nvSpPr>
        <p:spPr>
          <a:xfrm>
            <a:off x="7022592" y="4841748"/>
            <a:ext cx="182880" cy="182880"/>
          </a:xfrm>
          <a:prstGeom prst="ellipse">
            <a:avLst/>
          </a:prstGeom>
          <a:solidFill>
            <a:schemeClr val="accent1"/>
          </a:solidFill>
          <a:ln w="19050">
            <a:solidFill>
              <a:schemeClr val="bg1"/>
            </a:solidFill>
            <a:prstDash val="solid"/>
          </a:ln>
        </p:spPr>
      </p:sp>
      <p:sp>
        <p:nvSpPr>
          <p:cNvPr id="2"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457200" y="237744"/>
            <a:ext cx="5486400" cy="182880"/>
          </a:xfrm>
          <a:prstGeom prst="rect">
            <a:avLst/>
          </a:prstGeom>
          <a:noFill/>
          <a:ln/>
        </p:spPr>
        <p:txBody>
          <a:bodyPr wrap="square" lIns="0" tIns="0" rIns="0" bIns="0" rtlCol="0" anchor="t"/>
          <a:lstStyle/>
          <a:p>
            <a:pPr marL="0" indent="0">
              <a:buNone/>
            </a:pPr>
            <a:r>
              <a:rPr lang="en-US" sz="950" b="1" kern="0" spc="100" dirty="0">
                <a:solidFill>
                  <a:schemeClr val="accent1"/>
                </a:solidFill>
                <a:latin typeface="Courier New" pitchFamily="34" charset="0"/>
                <a:ea typeface="Courier New" pitchFamily="34" charset="-122"/>
                <a:cs typeface="Courier New" pitchFamily="34" charset="-120"/>
              </a:rPr>
              <a:t>PLATFORM 10  |  CONCLUSION</a:t>
            </a:r>
            <a:endParaRPr lang="en-US" sz="950" dirty="0"/>
          </a:p>
        </p:txBody>
      </p:sp>
      <p:sp>
        <p:nvSpPr>
          <p:cNvPr id="4" name="Text 1"/>
          <p:cNvSpPr>
            <a:spLocks noGrp="1"/>
          </p:cNvSpPr>
          <p:nvPr>
            <p:ph type="title" idx="101" hasCustomPrompt="1"/>
          </p:nvPr>
        </p:nvSpPr>
        <p:spPr>
          <a:xfrm>
            <a:off x="457200" y="438912"/>
            <a:ext cx="8229600" cy="457200"/>
          </a:xfrm>
          <a:prstGeom prst="rect">
            <a:avLst/>
          </a:prstGeom>
          <a:noFill/>
          <a:ln/>
        </p:spPr>
        <p:txBody>
          <a:bodyPr wrap="square" lIns="0" tIns="0" rIns="0" bIns="0" rtlCol="0" anchor="ctr"/>
          <a:lstStyle/>
          <a:p>
            <a:pPr marL="0" indent="0" algn="l">
              <a:buNone/>
            </a:pPr>
            <a:r>
              <a:rPr lang="en-US" sz="2400" b="1" dirty="0">
                <a:solidFill>
                  <a:schemeClr val="tx1"/>
                </a:solidFill>
                <a:latin typeface="Calibri" pitchFamily="34" charset="0"/>
                <a:ea typeface="Calibri" pitchFamily="34" charset="-122"/>
                <a:cs typeface="Calibri" pitchFamily="34" charset="-120"/>
              </a:rPr>
              <a:t>Conclusion and References</a:t>
            </a:r>
            <a:endParaRPr lang="en-US" sz="2400" dirty="0"/>
          </a:p>
        </p:txBody>
      </p:sp>
      <p:sp>
        <p:nvSpPr>
          <p:cNvPr id="5" name="Shape 2"/>
          <p:cNvSpPr/>
          <p:nvPr/>
        </p:nvSpPr>
        <p:spPr>
          <a:xfrm>
            <a:off x="457200" y="1051560"/>
            <a:ext cx="3931920" cy="3566160"/>
          </a:xfrm>
          <a:prstGeom prst="roundRect">
            <a:avLst>
              <a:gd name="adj" fmla="val 1538"/>
            </a:avLst>
          </a:prstGeom>
          <a:solidFill>
            <a:schemeClr val="tx2"/>
          </a:solidFill>
          <a:ln w="9525">
            <a:solidFill>
              <a:schemeClr val="accent6"/>
            </a:solidFill>
            <a:prstDash val="solid"/>
          </a:ln>
          <a:effectLst>
            <a:outerShdw blurRad="76200" dist="19050" dir="5400000" algn="bl" rotWithShape="0">
              <a:srgbClr val="0B1F3A">
                <a:alpha val="12000"/>
              </a:srgbClr>
            </a:outerShdw>
          </a:effectLst>
        </p:spPr>
      </p:sp>
      <p:sp>
        <p:nvSpPr>
          <p:cNvPr id="6" name="Text 3"/>
          <p:cNvSpPr txBox="1"/>
          <p:nvPr/>
        </p:nvSpPr>
        <p:spPr>
          <a:xfrm>
            <a:off x="658368" y="1188720"/>
            <a:ext cx="3200400" cy="182880"/>
          </a:xfrm>
          <a:prstGeom prst="rect">
            <a:avLst/>
          </a:prstGeom>
          <a:noFill/>
          <a:ln/>
        </p:spPr>
        <p:txBody>
          <a:bodyPr wrap="square" lIns="0" tIns="0" rIns="0" bIns="0" rtlCol="0" anchor="t"/>
          <a:lstStyle/>
          <a:p>
            <a:pPr marL="0" indent="0">
              <a:buNone/>
            </a:pPr>
            <a:r>
              <a:rPr lang="en-US" sz="950" b="1" kern="0" spc="150" dirty="0">
                <a:solidFill>
                  <a:schemeClr val="accent4"/>
                </a:solidFill>
                <a:latin typeface="Courier New" pitchFamily="34" charset="0"/>
                <a:ea typeface="Courier New" pitchFamily="34" charset="-122"/>
                <a:cs typeface="Courier New" pitchFamily="34" charset="-120"/>
              </a:rPr>
              <a:t>CONCLUSION</a:t>
            </a:r>
            <a:endParaRPr lang="en-US" sz="950" dirty="0"/>
          </a:p>
        </p:txBody>
      </p:sp>
      <p:sp>
        <p:nvSpPr>
          <p:cNvPr id="7" name="Text 4"/>
          <p:cNvSpPr txBox="1"/>
          <p:nvPr/>
        </p:nvSpPr>
        <p:spPr>
          <a:xfrm>
            <a:off x="658368" y="1444752"/>
            <a:ext cx="3520440" cy="685800"/>
          </a:xfrm>
          <a:prstGeom prst="rect">
            <a:avLst/>
          </a:prstGeom>
          <a:noFill/>
          <a:ln/>
        </p:spPr>
        <p:txBody>
          <a:bodyPr wrap="square" lIns="0" tIns="0" rIns="0" bIns="0" rtlCol="0" anchor="t"/>
          <a:lstStyle/>
          <a:p>
            <a:pPr marL="0" indent="0">
              <a:buNone/>
            </a:pPr>
            <a:r>
              <a:rPr lang="en-US" sz="1800" b="1" dirty="0">
                <a:solidFill>
                  <a:schemeClr val="bg1"/>
                </a:solidFill>
                <a:latin typeface="Calibri" pitchFamily="34" charset="0"/>
                <a:ea typeface="Calibri" pitchFamily="34" charset="-122"/>
                <a:cs typeface="Calibri" pitchFamily="34" charset="-120"/>
              </a:rPr>
              <a:t>From 1.5 million records to a working 4-tab dashboard.</a:t>
            </a:r>
            <a:endParaRPr lang="en-US" sz="1800" dirty="0"/>
          </a:p>
        </p:txBody>
      </p:sp>
      <p:sp>
        <p:nvSpPr>
          <p:cNvPr id="8" name="Text 5"/>
          <p:cNvSpPr txBox="1"/>
          <p:nvPr/>
        </p:nvSpPr>
        <p:spPr>
          <a:xfrm>
            <a:off x="658368" y="2240280"/>
            <a:ext cx="3520440" cy="1463040"/>
          </a:xfrm>
          <a:prstGeom prst="rect">
            <a:avLst/>
          </a:prstGeom>
          <a:noFill/>
          <a:ln/>
        </p:spPr>
        <p:txBody>
          <a:bodyPr wrap="square" lIns="0" tIns="0" rIns="0" bIns="0" rtlCol="0" anchor="t"/>
          <a:lstStyle/>
          <a:p>
            <a:pPr marL="0" indent="0">
              <a:spcAft>
                <a:spcPts val="700"/>
              </a:spcAft>
              <a:buNone/>
            </a:pPr>
            <a:r>
              <a:rPr lang="en-US" sz="1200" b="1" dirty="0">
                <a:solidFill>
                  <a:schemeClr val="accent4"/>
                </a:solidFill>
                <a:latin typeface="Calibri" pitchFamily="34" charset="0"/>
                <a:ea typeface="Calibri" pitchFamily="34" charset="-122"/>
                <a:cs typeface="Calibri" pitchFamily="34" charset="-120"/>
              </a:rPr>
              <a:t>Implemented: </a:t>
            </a:r>
            <a:r>
              <a:rPr lang="en-US" sz="1200" dirty="0">
                <a:solidFill>
                  <a:schemeClr val="bg1"/>
                </a:solidFill>
                <a:latin typeface="Calibri" pitchFamily="34" charset="0"/>
                <a:ea typeface="Calibri" pitchFamily="34" charset="-122"/>
                <a:cs typeface="Calibri" pitchFamily="34" charset="-120"/>
              </a:rPr>
              <a:t>HDFS storage, Java MapReduce, Cassandra, Streamlit dashboard</a:t>
            </a:r>
            <a:endParaRPr lang="en-US" sz="1200" dirty="0"/>
          </a:p>
          <a:p>
            <a:pPr marL="0" indent="0">
              <a:spcAft>
                <a:spcPts val="700"/>
              </a:spcAft>
              <a:buNone/>
            </a:pPr>
            <a:r>
              <a:rPr lang="en-US" sz="1200" b="1" dirty="0">
                <a:solidFill>
                  <a:schemeClr val="accent4"/>
                </a:solidFill>
                <a:latin typeface="Calibri" pitchFamily="34" charset="0"/>
                <a:ea typeface="Calibri" pitchFamily="34" charset="-122"/>
                <a:cs typeface="Calibri" pitchFamily="34" charset="-120"/>
              </a:rPr>
              <a:t>Demonstrated: </a:t>
            </a:r>
            <a:r>
              <a:rPr lang="en-US" sz="1200" dirty="0">
                <a:solidFill>
                  <a:schemeClr val="bg1"/>
                </a:solidFill>
                <a:latin typeface="Calibri" pitchFamily="34" charset="0"/>
                <a:ea typeface="Calibri" pitchFamily="34" charset="-122"/>
                <a:cs typeface="Calibri" pitchFamily="34" charset="-120"/>
              </a:rPr>
              <a:t>1.5M records into 70 summary rows, checked in Cassandra</a:t>
            </a:r>
            <a:endParaRPr lang="en-US" sz="1200" dirty="0"/>
          </a:p>
          <a:p>
            <a:pPr marL="0" indent="0">
              <a:spcAft>
                <a:spcPts val="700"/>
              </a:spcAft>
              <a:buNone/>
            </a:pPr>
            <a:r>
              <a:rPr lang="en-US" sz="1200" b="1" dirty="0">
                <a:solidFill>
                  <a:schemeClr val="accent4"/>
                </a:solidFill>
                <a:latin typeface="Calibri" pitchFamily="34" charset="0"/>
                <a:ea typeface="Calibri" pitchFamily="34" charset="-122"/>
                <a:cs typeface="Calibri" pitchFamily="34" charset="-120"/>
              </a:rPr>
              <a:t>Limits: </a:t>
            </a:r>
            <a:r>
              <a:rPr lang="en-US" sz="1200" dirty="0">
                <a:solidFill>
                  <a:schemeClr val="bg1"/>
                </a:solidFill>
                <a:latin typeface="Calibri" pitchFamily="34" charset="0"/>
                <a:ea typeface="Calibri" pitchFamily="34" charset="-122"/>
                <a:cs typeface="Calibri" pitchFamily="34" charset="-120"/>
              </a:rPr>
              <a:t>synthetic data, analysis only, not official statistics</a:t>
            </a:r>
            <a:endParaRPr lang="en-US" sz="1200" dirty="0"/>
          </a:p>
        </p:txBody>
      </p:sp>
      <p:sp>
        <p:nvSpPr>
          <p:cNvPr id="9" name="Shape 6"/>
          <p:cNvSpPr/>
          <p:nvPr/>
        </p:nvSpPr>
        <p:spPr>
          <a:xfrm>
            <a:off x="868680" y="4114800"/>
            <a:ext cx="3108960" cy="0"/>
          </a:xfrm>
          <a:prstGeom prst="line">
            <a:avLst/>
          </a:prstGeom>
          <a:noFill/>
          <a:ln w="38100">
            <a:solidFill>
              <a:schemeClr val="accent2"/>
            </a:solidFill>
            <a:prstDash val="solid"/>
          </a:ln>
        </p:spPr>
      </p:sp>
      <p:sp>
        <p:nvSpPr>
          <p:cNvPr id="10" name="Shape 7"/>
          <p:cNvSpPr/>
          <p:nvPr/>
        </p:nvSpPr>
        <p:spPr>
          <a:xfrm>
            <a:off x="804672" y="4050792"/>
            <a:ext cx="128016" cy="128016"/>
          </a:xfrm>
          <a:prstGeom prst="ellipse">
            <a:avLst/>
          </a:prstGeom>
          <a:solidFill>
            <a:schemeClr val="accent4"/>
          </a:solidFill>
          <a:ln w="19050">
            <a:solidFill>
              <a:schemeClr val="tx1"/>
            </a:solidFill>
            <a:prstDash val="solid"/>
          </a:ln>
        </p:spPr>
      </p:sp>
      <p:sp>
        <p:nvSpPr>
          <p:cNvPr id="11" name="Text 8"/>
          <p:cNvSpPr txBox="1"/>
          <p:nvPr/>
        </p:nvSpPr>
        <p:spPr>
          <a:xfrm>
            <a:off x="484632" y="4242816"/>
            <a:ext cx="768096"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Dataset</a:t>
            </a:r>
            <a:endParaRPr lang="en-US" sz="1000" dirty="0"/>
          </a:p>
        </p:txBody>
      </p:sp>
      <p:sp>
        <p:nvSpPr>
          <p:cNvPr id="12" name="Shape 9"/>
          <p:cNvSpPr/>
          <p:nvPr/>
        </p:nvSpPr>
        <p:spPr>
          <a:xfrm>
            <a:off x="1581912" y="4050792"/>
            <a:ext cx="128016" cy="128016"/>
          </a:xfrm>
          <a:prstGeom prst="ellipse">
            <a:avLst/>
          </a:prstGeom>
          <a:solidFill>
            <a:schemeClr val="accent4"/>
          </a:solidFill>
          <a:ln w="19050">
            <a:solidFill>
              <a:schemeClr val="tx1"/>
            </a:solidFill>
            <a:prstDash val="solid"/>
          </a:ln>
        </p:spPr>
      </p:sp>
      <p:sp>
        <p:nvSpPr>
          <p:cNvPr id="13" name="Text 10"/>
          <p:cNvSpPr txBox="1"/>
          <p:nvPr/>
        </p:nvSpPr>
        <p:spPr>
          <a:xfrm>
            <a:off x="1261872" y="4242816"/>
            <a:ext cx="768096"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HDFS</a:t>
            </a:r>
            <a:endParaRPr lang="en-US" sz="1000" dirty="0"/>
          </a:p>
        </p:txBody>
      </p:sp>
      <p:sp>
        <p:nvSpPr>
          <p:cNvPr id="14" name="Shape 11"/>
          <p:cNvSpPr/>
          <p:nvPr/>
        </p:nvSpPr>
        <p:spPr>
          <a:xfrm>
            <a:off x="2359152" y="4050792"/>
            <a:ext cx="128016" cy="128016"/>
          </a:xfrm>
          <a:prstGeom prst="ellipse">
            <a:avLst/>
          </a:prstGeom>
          <a:solidFill>
            <a:schemeClr val="accent4"/>
          </a:solidFill>
          <a:ln w="19050">
            <a:solidFill>
              <a:schemeClr val="tx1"/>
            </a:solidFill>
            <a:prstDash val="solid"/>
          </a:ln>
        </p:spPr>
      </p:sp>
      <p:sp>
        <p:nvSpPr>
          <p:cNvPr id="15" name="Text 12"/>
          <p:cNvSpPr txBox="1"/>
          <p:nvPr/>
        </p:nvSpPr>
        <p:spPr>
          <a:xfrm>
            <a:off x="2039112" y="4242816"/>
            <a:ext cx="768096"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MapReduce</a:t>
            </a:r>
            <a:endParaRPr lang="en-US" sz="1000" dirty="0"/>
          </a:p>
        </p:txBody>
      </p:sp>
      <p:sp>
        <p:nvSpPr>
          <p:cNvPr id="16" name="Shape 13"/>
          <p:cNvSpPr/>
          <p:nvPr/>
        </p:nvSpPr>
        <p:spPr>
          <a:xfrm>
            <a:off x="3136392" y="4050792"/>
            <a:ext cx="128016" cy="128016"/>
          </a:xfrm>
          <a:prstGeom prst="ellipse">
            <a:avLst/>
          </a:prstGeom>
          <a:solidFill>
            <a:schemeClr val="accent4"/>
          </a:solidFill>
          <a:ln w="19050">
            <a:solidFill>
              <a:schemeClr val="tx1"/>
            </a:solidFill>
            <a:prstDash val="solid"/>
          </a:ln>
        </p:spPr>
      </p:sp>
      <p:sp>
        <p:nvSpPr>
          <p:cNvPr id="17" name="Text 14"/>
          <p:cNvSpPr txBox="1"/>
          <p:nvPr/>
        </p:nvSpPr>
        <p:spPr>
          <a:xfrm>
            <a:off x="2816352" y="4242816"/>
            <a:ext cx="768096"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Cassandra</a:t>
            </a:r>
            <a:endParaRPr lang="en-US" sz="1000" dirty="0"/>
          </a:p>
        </p:txBody>
      </p:sp>
      <p:sp>
        <p:nvSpPr>
          <p:cNvPr id="18" name="Shape 15"/>
          <p:cNvSpPr/>
          <p:nvPr/>
        </p:nvSpPr>
        <p:spPr>
          <a:xfrm>
            <a:off x="3913632" y="4050792"/>
            <a:ext cx="128016" cy="128016"/>
          </a:xfrm>
          <a:prstGeom prst="ellipse">
            <a:avLst/>
          </a:prstGeom>
          <a:solidFill>
            <a:schemeClr val="accent4"/>
          </a:solidFill>
          <a:ln w="19050">
            <a:solidFill>
              <a:schemeClr val="tx1"/>
            </a:solidFill>
            <a:prstDash val="solid"/>
          </a:ln>
        </p:spPr>
      </p:sp>
      <p:sp>
        <p:nvSpPr>
          <p:cNvPr id="19" name="Text 16"/>
          <p:cNvSpPr txBox="1"/>
          <p:nvPr/>
        </p:nvSpPr>
        <p:spPr>
          <a:xfrm>
            <a:off x="3593592" y="4242816"/>
            <a:ext cx="768096" cy="18288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Streamlit</a:t>
            </a:r>
            <a:endParaRPr lang="en-US" sz="1000" dirty="0"/>
          </a:p>
        </p:txBody>
      </p:sp>
      <p:pic>
        <p:nvPicPr>
          <p:cNvPr id="20" name="Image 0" descr="Train silhouette"/>
          <p:cNvPicPr>
            <a:picLocks noChangeAspect="1"/>
          </p:cNvPicPr>
          <p:nvPr/>
        </p:nvPicPr>
        <p:blipFill>
          <a:blip r:embed="rId3"/>
          <a:stretch>
            <a:fillRect/>
          </a:stretch>
        </p:blipFill>
        <p:spPr>
          <a:xfrm>
            <a:off x="1234440" y="3904488"/>
            <a:ext cx="1737360" cy="181051"/>
          </a:xfrm>
          <a:prstGeom prst="rect">
            <a:avLst/>
          </a:prstGeom>
        </p:spPr>
      </p:pic>
      <p:sp>
        <p:nvSpPr>
          <p:cNvPr id="21" name="Shape 17"/>
          <p:cNvSpPr/>
          <p:nvPr/>
        </p:nvSpPr>
        <p:spPr>
          <a:xfrm>
            <a:off x="4572000" y="1051560"/>
            <a:ext cx="4114800" cy="3566160"/>
          </a:xfrm>
          <a:prstGeom prst="roundRect">
            <a:avLst>
              <a:gd name="adj" fmla="val 1538"/>
            </a:avLst>
          </a:prstGeom>
          <a:solidFill>
            <a:schemeClr val="bg1"/>
          </a:solidFill>
          <a:ln w="9525">
            <a:solidFill>
              <a:srgbClr val="D5DCE3"/>
            </a:solidFill>
            <a:prstDash val="solid"/>
          </a:ln>
          <a:effectLst>
            <a:outerShdw blurRad="76200" dist="19050" dir="5400000" algn="bl" rotWithShape="0">
              <a:srgbClr val="0B1F3A">
                <a:alpha val="12000"/>
              </a:srgbClr>
            </a:outerShdw>
          </a:effectLst>
        </p:spPr>
      </p:sp>
      <p:sp>
        <p:nvSpPr>
          <p:cNvPr id="22" name="Text 18"/>
          <p:cNvSpPr txBox="1"/>
          <p:nvPr/>
        </p:nvSpPr>
        <p:spPr>
          <a:xfrm>
            <a:off x="4754880" y="1161288"/>
            <a:ext cx="27432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References</a:t>
            </a:r>
            <a:endParaRPr lang="en-US" sz="1400" dirty="0"/>
          </a:p>
        </p:txBody>
      </p:sp>
      <p:sp>
        <p:nvSpPr>
          <p:cNvPr id="23" name="Text 19"/>
          <p:cNvSpPr txBox="1"/>
          <p:nvPr/>
        </p:nvSpPr>
        <p:spPr>
          <a:xfrm>
            <a:off x="4754880" y="1481328"/>
            <a:ext cx="3794760" cy="3063240"/>
          </a:xfrm>
          <a:prstGeom prst="rect">
            <a:avLst/>
          </a:prstGeom>
          <a:noFill/>
          <a:ln/>
        </p:spPr>
        <p:txBody>
          <a:bodyPr wrap="square" lIns="0" tIns="0" rIns="0" bIns="0" rtlCol="0" anchor="t"/>
          <a:lstStyle/>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[1]  </a:t>
            </a:r>
            <a:r>
              <a:rPr lang="en-US" sz="1000" dirty="0">
                <a:solidFill>
                  <a:schemeClr val="tx1"/>
                </a:solidFill>
                <a:latin typeface="Calibri" pitchFamily="34" charset="0"/>
                <a:ea typeface="Calibri" pitchFamily="34" charset="-122"/>
                <a:cs typeface="Calibri" pitchFamily="34" charset="-120"/>
              </a:rPr>
              <a:t>Kaggle, “Indian Railways: Predict Train Delay” (competition dataset, 2026). kaggle.com/competitions/indian-railways-predict-train-delay</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[2]  </a:t>
            </a:r>
            <a:r>
              <a:rPr lang="en-US" sz="1000" dirty="0">
                <a:solidFill>
                  <a:schemeClr val="tx1"/>
                </a:solidFill>
                <a:latin typeface="Calibri" pitchFamily="34" charset="0"/>
                <a:ea typeface="Calibri" pitchFamily="34" charset="-122"/>
                <a:cs typeface="Calibri" pitchFamily="34" charset="-120"/>
              </a:rPr>
              <a:t>Apache Software Foundation, Apache Hadoop 3.2.4 documentation. hadoop.apache.org</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[3]  </a:t>
            </a:r>
            <a:r>
              <a:rPr lang="en-US" sz="1000" dirty="0">
                <a:solidFill>
                  <a:schemeClr val="tx1"/>
                </a:solidFill>
                <a:latin typeface="Calibri" pitchFamily="34" charset="0"/>
                <a:ea typeface="Calibri" pitchFamily="34" charset="-122"/>
                <a:cs typeface="Calibri" pitchFamily="34" charset="-120"/>
              </a:rPr>
              <a:t>J. Dean and S. Ghemawat, “MapReduce: Simplified Data Processing on Large Clusters,” OSDI, 2004.</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[4]  </a:t>
            </a:r>
            <a:r>
              <a:rPr lang="en-US" sz="1000" dirty="0">
                <a:solidFill>
                  <a:schemeClr val="tx1"/>
                </a:solidFill>
                <a:latin typeface="Calibri" pitchFamily="34" charset="0"/>
                <a:ea typeface="Calibri" pitchFamily="34" charset="-122"/>
                <a:cs typeface="Calibri" pitchFamily="34" charset="-120"/>
              </a:rPr>
              <a:t>Apache Software Foundation, Apache Cassandra documentation. cassandra.apache.org</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[5]  </a:t>
            </a:r>
            <a:r>
              <a:rPr lang="en-US" sz="1000" dirty="0">
                <a:solidFill>
                  <a:schemeClr val="tx1"/>
                </a:solidFill>
                <a:latin typeface="Calibri" pitchFamily="34" charset="0"/>
                <a:ea typeface="Calibri" pitchFamily="34" charset="-122"/>
                <a:cs typeface="Calibri" pitchFamily="34" charset="-120"/>
              </a:rPr>
              <a:t>A. Lakshman and P. Malik, “Cassandra: A Decentralized Structured Storage System,” ACM SIGOPS Operating Systems Review, 44(2), 2010.</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[6]  </a:t>
            </a:r>
            <a:r>
              <a:rPr lang="en-US" sz="1000" dirty="0">
                <a:solidFill>
                  <a:schemeClr val="tx1"/>
                </a:solidFill>
                <a:latin typeface="Calibri" pitchFamily="34" charset="0"/>
                <a:ea typeface="Calibri" pitchFamily="34" charset="-122"/>
                <a:cs typeface="Calibri" pitchFamily="34" charset="-120"/>
              </a:rPr>
              <a:t>Streamlit documentation. docs.streamlit.io</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[7]  </a:t>
            </a:r>
            <a:r>
              <a:rPr lang="en-US" sz="1000" dirty="0">
                <a:solidFill>
                  <a:schemeClr val="tx1"/>
                </a:solidFill>
                <a:latin typeface="Calibri" pitchFamily="34" charset="0"/>
                <a:ea typeface="Calibri" pitchFamily="34" charset="-122"/>
                <a:cs typeface="Calibri" pitchFamily="34" charset="-120"/>
              </a:rPr>
              <a:t>pandas documentation. pandas.pydata.org</a:t>
            </a:r>
            <a:endParaRPr lang="en-US" sz="1000" dirty="0"/>
          </a:p>
          <a:p>
            <a:pPr marL="0" indent="0">
              <a:spcAft>
                <a:spcPts val="400"/>
              </a:spcAft>
              <a:buNone/>
            </a:pPr>
            <a:r>
              <a:rPr lang="en-US" sz="1000" b="1" dirty="0">
                <a:solidFill>
                  <a:schemeClr val="accent1"/>
                </a:solidFill>
                <a:latin typeface="Calibri" pitchFamily="34" charset="0"/>
                <a:ea typeface="Calibri" pitchFamily="34" charset="-122"/>
                <a:cs typeface="Calibri" pitchFamily="34" charset="-120"/>
              </a:rPr>
              <a:t>[8]  </a:t>
            </a:r>
            <a:r>
              <a:rPr lang="en-US" sz="1000" dirty="0">
                <a:solidFill>
                  <a:schemeClr val="tx1"/>
                </a:solidFill>
                <a:latin typeface="Calibri" pitchFamily="34" charset="0"/>
                <a:ea typeface="Calibri" pitchFamily="34" charset="-122"/>
                <a:cs typeface="Calibri" pitchFamily="34" charset="-120"/>
              </a:rPr>
              <a:t>DataStax, Python Driver for Apache Cassandra. docs.datastax.com/en/developer/python-driver</a:t>
            </a:r>
            <a:endParaRPr lang="en-US" sz="1000" dirty="0"/>
          </a:p>
        </p:txBody>
      </p:sp>
      <p:sp>
        <p:nvSpPr>
          <p:cNvPr id="24" name="Current station marker"/>
          <p:cNvSpPr/>
          <p:nvPr/>
        </p:nvSpPr>
        <p:spPr>
          <a:xfrm>
            <a:off x="7831836" y="4841748"/>
            <a:ext cx="182880" cy="182880"/>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8183880" y="4754880"/>
            <a:ext cx="502920" cy="365760"/>
          </a:xfrm>
          <a:prstGeom prst="rect">
            <a:avLst/>
          </a:prstGeom>
          <a:extLst>
            <a:ext uri="{C572A759-6A51-4108-AA02-DFA0A04FC94B}">
              <ma14:wrappingTextBoxFlag xmlns=""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lang="en-US" b="1"/>
              <a:t>10</a:t>
            </a:fld>
            <a:endParaRPr lang="en-US"/>
          </a:p>
        </p:txBody>
      </p:sp>
    </p:spTree>
  </p:cSld>
  <p:clrMapOvr>
    <a:masterClrMapping/>
  </p:clrMapOvr>
</p:sld>
</file>

<file path=ppt/theme/theme1.xml><?xml version="1.0" encoding="utf-8"?>
<a:theme xmlns:a="http://schemas.openxmlformats.org/drawingml/2006/main" name="Indian Rail Analytics">
  <a:themeElements>
    <a:clrScheme name="Indian Rail Analytics">
      <a:dk1>
        <a:srgbClr val="0B1F3A"/>
      </a:dk1>
      <a:lt1>
        <a:srgbClr val="FFFFFF"/>
      </a:lt1>
      <a:dk2>
        <a:srgbClr val="14304F"/>
      </a:dk2>
      <a:lt2>
        <a:srgbClr val="EEF2F6"/>
      </a:lt2>
      <a:accent1>
        <a:srgbClr val="C8102E"/>
      </a:accent1>
      <a:accent2>
        <a:srgbClr val="0E8C8C"/>
      </a:accent2>
      <a:accent3>
        <a:srgbClr val="8A96A3"/>
      </a:accent3>
      <a:accent4>
        <a:srgbClr val="F2B705"/>
      </a:accent4>
      <a:accent5>
        <a:srgbClr val="C9D1D9"/>
      </a:accent5>
      <a:accent6>
        <a:srgbClr val="3A5A80"/>
      </a:accent6>
      <a:hlink>
        <a:srgbClr val="0E8C8C"/>
      </a:hlink>
      <a:folHlink>
        <a:srgbClr val="8A96A3"/>
      </a:folHlink>
    </a:clrScheme>
    <a:fontScheme name="Indian Rail Analytic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Indian Rail Analytics</vt:lpstr>
      <vt:lpstr>PowerPoint Presentation</vt:lpstr>
      <vt:lpstr>Introduction, Objectives and Scope</vt:lpstr>
      <vt:lpstr>Dataset Description and Technologies Used</vt:lpstr>
      <vt:lpstr>System Architecture</vt:lpstr>
      <vt:lpstr>Methodology</vt:lpstr>
      <vt:lpstr>MapReduce Processing</vt:lpstr>
      <vt:lpstr>Storing Results in Cassandra</vt:lpstr>
      <vt:lpstr>Dashboard: Zones, Train Types, Hours and Delay Causes</vt:lpstr>
      <vt:lpstr>Results, Limitations and Future Scope</vt:lpstr>
      <vt:lpstr>Conclusion and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Transport Delay Analysis</dc:title>
  <dc:subject>Big Data project: railway journey delay analysis with Hadoop, MapReduce, Cassandra and Streamlit</dc:subject>
  <dc:creator>PptxGenJS</dc:creator>
  <cp:lastModifiedBy>PptxGenJS</cp:lastModifiedBy>
  <cp:revision>33</cp:revision>
  <dcterms:created xsi:type="dcterms:W3CDTF">2026-10-27T06:52:32Z</dcterms:created>
  <dcterms:modified xsi:type="dcterms:W3CDTF">2026-10-28T18:21:41Z</dcterms:modified>
</cp:coreProperties>
</file>